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74" r:id="rId5"/>
    <p:sldId id="259" r:id="rId6"/>
    <p:sldId id="260" r:id="rId7"/>
    <p:sldId id="281" r:id="rId8"/>
    <p:sldId id="275" r:id="rId9"/>
    <p:sldId id="276" r:id="rId10"/>
    <p:sldId id="277" r:id="rId11"/>
    <p:sldId id="278" r:id="rId12"/>
    <p:sldId id="279" r:id="rId13"/>
    <p:sldId id="28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82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Prasad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Prasad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Prasad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Prasad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1C9F-1B18-8E51-2BE6-E8FD5B90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D275A-6B00-2A7C-2825-10913A624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BCA7B-02F0-D188-F88F-A0BF909B1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Prasad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BA3FF-5500-4ABC-BD81-000C1CAB42B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8644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Student_Dropout_Capstone_report_v2.docx, Section 14, Fairness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FEBB-8282-68D4-D50B-604B90FD1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BA7E7-4F31-FE59-865F-B8E108393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796B8-147B-AA4B-A332-F359868558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89E714-C22D-44A1-ABB5-C03F048A8F2E}" type="datetime1">
              <a:rPr lang="en-US" smtClean="0"/>
              <a:t>8/29/2026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7C14A-C496-2310-DD4C-EC48554ED5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AAEE7-CEB3-6B56-35A5-2051986B1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306D-957D-65EE-B77D-6626876D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52FA4-B029-39A2-62EB-33AC2722E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D33C-ABA7-AE1B-9EEC-B1814367D4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8A13CAE-33CF-4DC9-98B1-990A55CC4D53}" type="datetime1">
              <a:rPr lang="en-US" smtClean="0"/>
              <a:t>8/29/2026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2CFF7-65F8-C0ED-EC8F-45A154CF53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BB9C-9B2B-2E5D-D9A9-696DF1B838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602D-D5FA-BA7A-E9F3-CD59E2F2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CB6D3-532B-8E5E-7267-098661E54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E9472-A292-058E-076A-00CE5B7B0A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3588B8-BF55-4C7F-B76C-5AD1B2BD9FE6}" type="datetime1">
              <a:rPr lang="en-US" smtClean="0"/>
              <a:t>8/29/2026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7DC0C-9F20-B8C7-F2A4-B238320436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861E-A9B5-803F-BBA0-1C0E2D15EC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923D-E84F-8AEC-86BD-0B1B4AEC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20B3C-2036-EB5A-94A8-A5283C247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0DA27-37B4-5F55-F2B0-08D70885D3B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482C2-DBFA-29D7-71E5-53FB63A8F2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A35CA64-0B2A-43BF-BB2D-5ACBAD09671F}" type="datetime1">
              <a:rPr lang="en-US" smtClean="0"/>
              <a:t>8/29/2026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6C0C3-7B90-D009-3C83-F071C712DA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A8618-E2BD-D538-0B59-773FA38E39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F739-2CE8-BDD9-5C60-51B41C59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20168-C350-D3F7-E14B-B1710FDA9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6E1A7-1409-E52C-8352-5467EA0ADA8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8F331-9D13-B962-FB38-0374D1D7979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B78B2-0B47-8225-BAC1-2F75A04157D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D1688-D810-E82F-9663-0D31BA9C76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634EA0-9121-47A0-B23D-E9219288D8E6}" type="datetime1">
              <a:rPr lang="en-US" smtClean="0"/>
              <a:t>8/29/2026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012D3-70BA-06CC-63A0-D494F901CF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1A3745-243F-90C7-4CBE-1752910B3A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99DC-B6F9-676F-06FD-73E70C579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33B7D3-E31B-7CD7-3ADC-A77452F12D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E979BF-AC8F-488D-8100-2994A82D63D1}" type="datetime1">
              <a:rPr lang="en-US" smtClean="0"/>
              <a:t>8/29/2026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29395-304A-7623-37ED-04F37BDFB8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43ED7-F2C5-E80B-B6CF-BB8E02A16A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14416-286C-D0E3-B201-8A3D15137E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A03F5B-E5EF-4833-A0CA-90EAB63FC920}" type="datetime1">
              <a:rPr lang="en-US" smtClean="0"/>
              <a:t>8/29/2026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2E1AC-E212-FB9D-63A4-23E95D719A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ED004-C4EB-6F54-2612-DD467D2D8C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C602-D399-26B3-2B18-AEF1E23D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4BBC-9150-B41E-D47F-1AC5D654C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E9DC6-B851-7E15-6DB3-90BA7C90E1C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A1C0B-EA10-AA1D-4895-99E32F2073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CE17C9-7973-4C75-89A6-B915DE5B58ED}" type="datetime1">
              <a:rPr lang="en-US" smtClean="0"/>
              <a:t>8/29/2026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623F9-3944-BB25-7D03-2A6D27A0F8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90D4F-3D86-3B53-1CCB-F7483E19E8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351C-B023-D682-4E9F-58F332CE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F8F73C-5541-B388-34FF-9D8C0F0FA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7700F-AD6D-D55B-CB71-2F58FA9B1DA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08E3B-E958-E6FE-80A6-A7F021DE5B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5670B6-F221-4201-8236-C863D0A3E39C}" type="datetime1">
              <a:rPr lang="en-US" smtClean="0"/>
              <a:t>8/29/2026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C16E-466E-72E0-88EF-3C149B504E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1E7CB-BBDE-0D0E-559C-CFEDBB431A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723F-EDD3-78A6-1804-750108B7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D2029-11D2-1EF5-06E5-1715942D1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676C4-C6F6-0FBC-1F03-D737021F2F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76B6D-7C4C-4B74-A06F-2BD5194AA1C1}" type="datetime1">
              <a:rPr lang="en-US" smtClean="0"/>
              <a:t>8/29/2026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A2261-3E8C-36E4-FF16-5364FACC24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A3AE8-D6B8-12E6-D775-C59E25D7FE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FAABD-56D6-F4E1-6712-C158A0BB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77558-E9FD-3297-DCB0-DFF67BF1C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F169D-C811-58AA-0651-4E1A6DA289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A38CD2-D0F5-4AC5-9398-05C66D84B4AE}" type="datetime1">
              <a:rPr lang="en-US" smtClean="0"/>
              <a:t>8/29/2026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AEE89-6A3F-4D2A-F1A7-434D6715807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CF091-9B39-CB91-887B-2AE4D72E2D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D2CC73-B112-66A2-342D-F17DA1C7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1BCA9-B004-C5D9-9CF0-1B868F49A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E1A9F-95D3-B77E-E76E-D1DAB19901E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25DE-B66D-4649-BFE9-9481B5D1A890}" type="datetime1">
              <a:rPr lang="en-US" smtClean="0"/>
              <a:t>8/29/2026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732C2-65E1-E316-65E7-A5312E1CBCC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CF1A-8C94-FC59-B9A2-8FC51C319C3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ityamd/iiith-capstone-projec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localhost:8501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D4A45-2A4F-413A-9F1B-BF0B73511B4A}"/>
              </a:ext>
            </a:extLst>
          </p:cNvPr>
          <p:cNvSpPr>
            <a:spLocks noGrp="1"/>
          </p:cNvSpPr>
          <p:nvPr/>
        </p:nvSpPr>
        <p:spPr>
          <a:xfrm>
            <a:off x="462507" y="3073072"/>
            <a:ext cx="11729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800" b="1"/>
            </a:pPr>
            <a:r>
              <a:rPr>
                <a:latin typeface="Georgia"/>
                <a:ea typeface="Georgia"/>
                <a:cs typeface="Georgia"/>
              </a:rPr>
              <a:t>Predicting Student Dropout Risk in Online Learning Platforms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FBB6A-34B3-47AB-9A95-9CC503AC0BBF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279595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rPr>
                <a:latin typeface="Georgia"/>
                <a:ea typeface="Georgia"/>
                <a:cs typeface="Georgia"/>
              </a:rPr>
              <a:t>Student Dropout Risk Prediction | Final Evaluation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DA9ED-87FC-8BA1-FFA6-8F9DD737B52A}"/>
              </a:ext>
            </a:extLst>
          </p:cNvPr>
          <p:cNvSpPr>
            <a:spLocks noGrp="1"/>
          </p:cNvSpPr>
          <p:nvPr/>
        </p:nvSpPr>
        <p:spPr>
          <a:xfrm>
            <a:off x="3451317" y="2218721"/>
            <a:ext cx="5289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latin typeface="Georgia"/>
                <a:ea typeface="Georgia"/>
                <a:cs typeface="Georgia"/>
              </a:rPr>
              <a:t>eMasters Capstone Project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F74C9C-7C6F-5369-F8F0-A9FF2E433A3C}"/>
              </a:ext>
            </a:extLst>
          </p:cNvPr>
          <p:cNvSpPr>
            <a:spLocks noGrp="1"/>
          </p:cNvSpPr>
          <p:nvPr/>
        </p:nvSpPr>
        <p:spPr>
          <a:xfrm>
            <a:off x="3826788" y="4044236"/>
            <a:ext cx="45384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400"/>
            </a:pPr>
            <a:r>
              <a:rPr>
                <a:latin typeface="Georgia"/>
                <a:ea typeface="Georgia"/>
                <a:cs typeface="Georgia"/>
              </a:rPr>
              <a:t>Early-warning prediction at the 25% course checkpoint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276EC5-6550-18CE-550F-D04E8F933D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76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7B768B-E16B-DCC1-B726-E69972DF1E8B}"/>
              </a:ext>
            </a:extLst>
          </p:cNvPr>
          <p:cNvSpPr>
            <a:spLocks noGrp="1"/>
          </p:cNvSpPr>
          <p:nvPr/>
        </p:nvSpPr>
        <p:spPr>
          <a:xfrm>
            <a:off x="754134" y="825910"/>
            <a:ext cx="11152730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  <a:defRPr sz="2000"/>
            </a:pPr>
            <a:r>
              <a:rPr b="1" dirty="0">
                <a:latin typeface="Georgia"/>
                <a:ea typeface="Georgia"/>
                <a:cs typeface="Georgia"/>
              </a:rPr>
              <a:t>Group1</a:t>
            </a:r>
          </a:p>
          <a:p>
            <a:pPr algn="ctr">
              <a:spcAft>
                <a:spcPts val="1000"/>
              </a:spcAft>
              <a:buNone/>
              <a:defRPr sz="2000"/>
            </a:pPr>
            <a:r>
              <a:rPr sz="1400" b="1" dirty="0">
                <a:latin typeface="Georgia"/>
                <a:ea typeface="Georgia"/>
                <a:cs typeface="Georgia"/>
              </a:rPr>
              <a:t>Team Members: </a:t>
            </a:r>
          </a:p>
          <a:p>
            <a:pPr algn="ctr">
              <a:spcAft>
                <a:spcPts val="1000"/>
              </a:spcAft>
              <a:buNone/>
              <a:defRPr sz="2000"/>
            </a:pPr>
            <a:r>
              <a:rPr sz="1400" dirty="0">
                <a:latin typeface="Georgia"/>
                <a:ea typeface="Georgia"/>
                <a:cs typeface="Georgia"/>
              </a:rPr>
              <a:t>Aditya Tripathi </a:t>
            </a:r>
          </a:p>
          <a:p>
            <a:pPr algn="ctr">
              <a:spcAft>
                <a:spcPts val="1000"/>
              </a:spcAft>
              <a:buNone/>
              <a:defRPr sz="2000"/>
            </a:pPr>
            <a:r>
              <a:rPr sz="1400" dirty="0">
                <a:latin typeface="Georgia"/>
                <a:ea typeface="Georgia"/>
                <a:cs typeface="Georgia"/>
              </a:rPr>
              <a:t>Kiran Bhan Singh</a:t>
            </a:r>
          </a:p>
          <a:p>
            <a:pPr algn="ctr">
              <a:spcAft>
                <a:spcPts val="1000"/>
              </a:spcAft>
              <a:buNone/>
              <a:defRPr sz="2000"/>
            </a:pPr>
            <a:r>
              <a:rPr sz="1400" dirty="0">
                <a:latin typeface="Georgia"/>
                <a:ea typeface="Georgia"/>
                <a:cs typeface="Georgia"/>
              </a:rPr>
              <a:t>Mohammad </a:t>
            </a:r>
            <a:r>
              <a:rPr sz="1400" dirty="0" err="1">
                <a:latin typeface="Georgia"/>
                <a:ea typeface="Georgia"/>
                <a:cs typeface="Georgia"/>
              </a:rPr>
              <a:t>Shujath</a:t>
            </a:r>
            <a:r>
              <a:rPr sz="1400" dirty="0">
                <a:latin typeface="Georgia"/>
                <a:ea typeface="Georgia"/>
                <a:cs typeface="Georgia"/>
              </a:rPr>
              <a:t> </a:t>
            </a:r>
          </a:p>
          <a:p>
            <a:pPr algn="ctr">
              <a:spcAft>
                <a:spcPts val="1000"/>
              </a:spcAft>
              <a:buNone/>
              <a:defRPr sz="2000"/>
            </a:pPr>
            <a:r>
              <a:rPr sz="1400" dirty="0" err="1">
                <a:latin typeface="Georgia"/>
                <a:ea typeface="Georgia"/>
                <a:cs typeface="Georgia"/>
              </a:rPr>
              <a:t>Perecharla</a:t>
            </a:r>
            <a:r>
              <a:rPr sz="1400" dirty="0">
                <a:latin typeface="Georgia"/>
                <a:ea typeface="Georgia"/>
                <a:cs typeface="Georgia"/>
              </a:rPr>
              <a:t> Prasad </a:t>
            </a:r>
          </a:p>
          <a:p>
            <a:pPr>
              <a:spcAft>
                <a:spcPts val="1000"/>
              </a:spcAft>
              <a:buNone/>
              <a:defRPr sz="2000"/>
            </a:pPr>
            <a:endParaRPr dirty="0">
              <a:latin typeface="Georgia"/>
              <a:ea typeface="Georgia"/>
              <a:cs typeface="Georgia"/>
            </a:endParaRPr>
          </a:p>
          <a:p>
            <a:pPr algn="ctr">
              <a:spcAft>
                <a:spcPts val="1000"/>
              </a:spcAft>
              <a:buNone/>
              <a:defRPr sz="2000"/>
            </a:pPr>
            <a:r>
              <a:rPr b="1" dirty="0">
                <a:latin typeface="Georgia"/>
                <a:ea typeface="Georgia"/>
                <a:cs typeface="Georgia"/>
              </a:rPr>
              <a:t>Mentor</a:t>
            </a:r>
          </a:p>
          <a:p>
            <a:pPr algn="ctr">
              <a:spcAft>
                <a:spcPts val="1000"/>
              </a:spcAft>
              <a:buNone/>
              <a:defRPr sz="2000"/>
            </a:pPr>
            <a:r>
              <a:rPr sz="1400" dirty="0">
                <a:latin typeface="Georgia"/>
                <a:ea typeface="Georgia"/>
                <a:cs typeface="Georgia"/>
              </a:rPr>
              <a:t>Sajid</a:t>
            </a:r>
            <a:r>
              <a:rPr lang="en-IN" sz="1400" dirty="0">
                <a:latin typeface="Georgia"/>
                <a:ea typeface="Georgia"/>
                <a:cs typeface="Georgia"/>
              </a:rPr>
              <a:t> Ansari</a:t>
            </a:r>
            <a:endParaRPr sz="1400" dirty="0">
              <a:latin typeface="Georgia"/>
              <a:ea typeface="Georgia"/>
              <a:cs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A90ED-2C4E-B7B3-E63D-A72DF5A0295F}"/>
              </a:ext>
            </a:extLst>
          </p:cNvPr>
          <p:cNvSpPr>
            <a:spLocks noGrp="1"/>
          </p:cNvSpPr>
          <p:nvPr/>
        </p:nvSpPr>
        <p:spPr>
          <a:xfrm>
            <a:off x="822960" y="4846320"/>
            <a:ext cx="112707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100" b="1"/>
            </a:pPr>
            <a:r>
              <a:rPr dirty="0">
                <a:latin typeface="Georgia"/>
                <a:ea typeface="Georgia"/>
                <a:cs typeface="Georgia"/>
              </a:rPr>
              <a:t>Goal: Identify students at risk of withdrawal early enough to support meaningful intervention.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95450-667F-186E-BDB2-DC40C73CFC21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279595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rPr>
                <a:latin typeface="Georgia"/>
                <a:ea typeface="Georgia"/>
                <a:cs typeface="Georgia"/>
              </a:rPr>
              <a:t>Student Dropout Risk Prediction | Final Evaluation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295F0-4D4C-CDAC-7405-DCEB6ACA63C4}"/>
              </a:ext>
            </a:extLst>
          </p:cNvPr>
          <p:cNvSpPr txBox="1"/>
          <p:nvPr/>
        </p:nvSpPr>
        <p:spPr>
          <a:xfrm>
            <a:off x="754134" y="5766955"/>
            <a:ext cx="11339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Github</a:t>
            </a:r>
            <a:r>
              <a:rPr lang="en-IN" dirty="0"/>
              <a:t> URL: </a:t>
            </a:r>
            <a:r>
              <a:rPr lang="en-IN" dirty="0">
                <a:hlinkClick r:id="rId3"/>
              </a:rPr>
              <a:t>https://github.com/adityamd/iiith-capstone-project</a:t>
            </a:r>
            <a:endParaRPr lang="en-IN" dirty="0"/>
          </a:p>
          <a:p>
            <a:r>
              <a:rPr lang="en-IN" dirty="0"/>
              <a:t>Dashboard: </a:t>
            </a:r>
            <a:r>
              <a:rPr lang="en-IN" u="sng" dirty="0">
                <a:hlinkClick r:id="rId4"/>
              </a:rPr>
              <a:t>http://localhost:8501</a:t>
            </a:r>
            <a:endParaRPr lang="en-IN" dirty="0"/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A5B5B5-81B2-17B0-E09F-7FEB4450DC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53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77D1B-173B-48A2-BE49-71220EDB5A63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85972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rPr>
                <a:latin typeface="Georgia"/>
                <a:ea typeface="Georgia"/>
                <a:cs typeface="Georgia"/>
              </a:rPr>
              <a:t>The Problem: Why Early Dropout Prediction?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DC719-D88F-434F-8A43-37BF89260B97}"/>
              </a:ext>
            </a:extLst>
          </p:cNvPr>
          <p:cNvSpPr>
            <a:spLocks noGrp="1"/>
          </p:cNvSpPr>
          <p:nvPr/>
        </p:nvSpPr>
        <p:spPr>
          <a:xfrm>
            <a:off x="685800" y="1325880"/>
            <a:ext cx="1053280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Georgia"/>
                <a:ea typeface="Georgia"/>
                <a:cs typeface="Georgia"/>
              </a:rPr>
              <a:t>Student withdrawal can often be identified only after the course has progressed significantly.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Georgia"/>
                <a:ea typeface="Georgia"/>
                <a:cs typeface="Georgia"/>
              </a:rPr>
              <a:t>An early-warning system should predict risk while there is still time to intervene.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Georgia"/>
                <a:ea typeface="Georgia"/>
                <a:cs typeface="Georgia"/>
              </a:rPr>
              <a:t>The challenge is to use only information genuinely available at the prediction point.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Georgia"/>
                <a:ea typeface="Georgia"/>
                <a:cs typeface="Georgia"/>
              </a:rPr>
              <a:t>We therefore predict withdrawal using data available by the 25% course checkpoint.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6C80659-9D79-4390-BF67-53B79C03CE4E}"/>
              </a:ext>
            </a:extLst>
          </p:cNvPr>
          <p:cNvSpPr>
            <a:spLocks noGrp="1"/>
          </p:cNvSpPr>
          <p:nvPr/>
        </p:nvSpPr>
        <p:spPr>
          <a:xfrm>
            <a:off x="640080" y="390906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Course Start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194C2-F1A6-4686-A5C6-505A48B7BBE6}"/>
              </a:ext>
            </a:extLst>
          </p:cNvPr>
          <p:cNvSpPr>
            <a:spLocks noGrp="1"/>
          </p:cNvSpPr>
          <p:nvPr/>
        </p:nvSpPr>
        <p:spPr>
          <a:xfrm>
            <a:off x="3319272" y="41650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rPr dirty="0"/>
              <a:t>→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8FA024-A56A-4664-9DCC-6D9BDFE9FBBB}"/>
              </a:ext>
            </a:extLst>
          </p:cNvPr>
          <p:cNvSpPr>
            <a:spLocks noGrp="1"/>
          </p:cNvSpPr>
          <p:nvPr/>
        </p:nvSpPr>
        <p:spPr>
          <a:xfrm>
            <a:off x="3566160" y="3909060"/>
            <a:ext cx="2432304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rPr dirty="0"/>
              <a:t>25% Checkpoint</a:t>
            </a:r>
          </a:p>
          <a:p>
            <a:r>
              <a:rPr dirty="0"/>
              <a:t>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2F1BF-B956-467D-A025-F86E8A2630B4}"/>
              </a:ext>
            </a:extLst>
          </p:cNvPr>
          <p:cNvSpPr>
            <a:spLocks noGrp="1"/>
          </p:cNvSpPr>
          <p:nvPr/>
        </p:nvSpPr>
        <p:spPr>
          <a:xfrm>
            <a:off x="6096000" y="41650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rPr dirty="0"/>
              <a:t>→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395343-F260-4B3A-8A58-DF19A95D6AA2}"/>
              </a:ext>
            </a:extLst>
          </p:cNvPr>
          <p:cNvSpPr>
            <a:spLocks noGrp="1"/>
          </p:cNvSpPr>
          <p:nvPr/>
        </p:nvSpPr>
        <p:spPr>
          <a:xfrm>
            <a:off x="6327648" y="3909060"/>
            <a:ext cx="2432304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Support /</a:t>
            </a:r>
          </a:p>
          <a:p>
            <a:r>
              <a:t>Intervention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55496A-158D-4382-875C-4844A64B3FFC}"/>
              </a:ext>
            </a:extLst>
          </p:cNvPr>
          <p:cNvSpPr>
            <a:spLocks noGrp="1"/>
          </p:cNvSpPr>
          <p:nvPr/>
        </p:nvSpPr>
        <p:spPr>
          <a:xfrm>
            <a:off x="8842248" y="4208747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rPr dirty="0"/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C6FCB9-C295-4214-9CD0-C8E0C647BA44}"/>
              </a:ext>
            </a:extLst>
          </p:cNvPr>
          <p:cNvSpPr>
            <a:spLocks noGrp="1"/>
          </p:cNvSpPr>
          <p:nvPr/>
        </p:nvSpPr>
        <p:spPr>
          <a:xfrm>
            <a:off x="9089136" y="3909060"/>
            <a:ext cx="2432304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Course 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C053B-8BA3-4E7D-B810-4DA5A7A36371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6419A49-306F-B5D7-C0A4-9213A66AB9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65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81067-7627-F82E-53DE-7C40F4439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84" y="530942"/>
            <a:ext cx="9830403" cy="323481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8CE4DE-DAE1-61C7-23EB-3669C0E20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993197"/>
              </p:ext>
            </p:extLst>
          </p:nvPr>
        </p:nvGraphicFramePr>
        <p:xfrm>
          <a:off x="1769806" y="3983976"/>
          <a:ext cx="8593394" cy="1881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890">
                  <a:extLst>
                    <a:ext uri="{9D8B030D-6E8A-4147-A177-3AD203B41FA5}">
                      <a16:colId xmlns:a16="http://schemas.microsoft.com/office/drawing/2014/main" val="3668723902"/>
                    </a:ext>
                  </a:extLst>
                </a:gridCol>
                <a:gridCol w="5346504">
                  <a:extLst>
                    <a:ext uri="{9D8B030D-6E8A-4147-A177-3AD203B41FA5}">
                      <a16:colId xmlns:a16="http://schemas.microsoft.com/office/drawing/2014/main" val="835202548"/>
                    </a:ext>
                  </a:extLst>
                </a:gridCol>
              </a:tblGrid>
              <a:tr h="335881">
                <a:tc>
                  <a:txBody>
                    <a:bodyPr/>
                    <a:lstStyle/>
                    <a:p>
                      <a:r>
                        <a:rPr lang="en-IN" dirty="0"/>
                        <a:t>Final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 Result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050180"/>
                  </a:ext>
                </a:extLst>
              </a:tr>
              <a:tr h="418527">
                <a:tc>
                  <a:txBody>
                    <a:bodyPr/>
                    <a:lstStyle/>
                    <a:p>
                      <a:r>
                        <a:rPr lang="en-IN" dirty="0"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37.93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918325"/>
                  </a:ext>
                </a:extLst>
              </a:tr>
              <a:tr h="335881">
                <a:tc>
                  <a:txBody>
                    <a:bodyPr/>
                    <a:lstStyle/>
                    <a:p>
                      <a:r>
                        <a:rPr lang="en-IN" dirty="0"/>
                        <a:t>Withdrawn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849474"/>
                  </a:ext>
                </a:extLst>
              </a:tr>
              <a:tr h="335881">
                <a:tc>
                  <a:txBody>
                    <a:bodyPr/>
                    <a:lstStyle/>
                    <a:p>
                      <a:r>
                        <a:rPr lang="en-IN" dirty="0"/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358676"/>
                  </a:ext>
                </a:extLst>
              </a:tr>
              <a:tr h="335881">
                <a:tc>
                  <a:txBody>
                    <a:bodyPr/>
                    <a:lstStyle/>
                    <a:p>
                      <a:r>
                        <a:rPr lang="en-IN" dirty="0"/>
                        <a:t>Distinction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47445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3A1978-EB5F-673B-47BD-33BD4E1803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780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16F0F-4F8D-49EA-814F-66213C3F4B63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Project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8EA26-DE0D-4985-B608-79E0ED134B10}"/>
              </a:ext>
            </a:extLst>
          </p:cNvPr>
          <p:cNvSpPr>
            <a:spLocks noGrp="1"/>
          </p:cNvSpPr>
          <p:nvPr/>
        </p:nvSpPr>
        <p:spPr>
          <a:xfrm>
            <a:off x="822960" y="1325880"/>
            <a:ext cx="10515600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Build a reproducible student-course modeling dataset from OULAD.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Engineer leakage-safe features available at the 25% checkpoint.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Compare multiple machine learning approaches.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Address class imbalance and evaluate relevant performance trade-offs.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Assess subgroup behavior beyond overall accuracy.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Operationalize the trained models through an interactive dashboard.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984872-380A-4B1F-9DD9-9F2E30C555C7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E2844-1181-CADD-1349-A2D4840F7C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48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3DAA5-406B-408A-9D7B-C0A405FA4CE0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Dataset and Modeling Scope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23EC875-6E92-432B-AECB-B813EB855DDB}"/>
              </a:ext>
            </a:extLst>
          </p:cNvPr>
          <p:cNvSpPr>
            <a:spLocks noGrp="1"/>
          </p:cNvSpPr>
          <p:nvPr/>
        </p:nvSpPr>
        <p:spPr>
          <a:xfrm>
            <a:off x="640080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Student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11893-C14A-45D7-8F83-42B78BA7ABBC}"/>
              </a:ext>
            </a:extLst>
          </p:cNvPr>
          <p:cNvSpPr>
            <a:spLocks noGrp="1"/>
          </p:cNvSpPr>
          <p:nvPr/>
        </p:nvSpPr>
        <p:spPr>
          <a:xfrm>
            <a:off x="2684678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AB6F0B-4238-4F33-9BB5-B368F6E2E6D8}"/>
              </a:ext>
            </a:extLst>
          </p:cNvPr>
          <p:cNvSpPr>
            <a:spLocks noGrp="1"/>
          </p:cNvSpPr>
          <p:nvPr/>
        </p:nvSpPr>
        <p:spPr>
          <a:xfrm>
            <a:off x="2849270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Registration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C4095-6FE6-4FA0-91F3-8D9DFD6C4C80}"/>
              </a:ext>
            </a:extLst>
          </p:cNvPr>
          <p:cNvSpPr>
            <a:spLocks noGrp="1"/>
          </p:cNvSpPr>
          <p:nvPr/>
        </p:nvSpPr>
        <p:spPr>
          <a:xfrm>
            <a:off x="4893868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BA9EAA-7905-4DB7-B1D2-F3DD12B1E242}"/>
              </a:ext>
            </a:extLst>
          </p:cNvPr>
          <p:cNvSpPr>
            <a:spLocks noGrp="1"/>
          </p:cNvSpPr>
          <p:nvPr/>
        </p:nvSpPr>
        <p:spPr>
          <a:xfrm>
            <a:off x="5058460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Assessments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00799-58FB-4C1B-887D-55C13E06B0C4}"/>
              </a:ext>
            </a:extLst>
          </p:cNvPr>
          <p:cNvSpPr>
            <a:spLocks noGrp="1"/>
          </p:cNvSpPr>
          <p:nvPr/>
        </p:nvSpPr>
        <p:spPr>
          <a:xfrm>
            <a:off x="7103059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D32803-C59B-467D-8E48-19833B8329B6}"/>
              </a:ext>
            </a:extLst>
          </p:cNvPr>
          <p:cNvSpPr>
            <a:spLocks noGrp="1"/>
          </p:cNvSpPr>
          <p:nvPr/>
        </p:nvSpPr>
        <p:spPr>
          <a:xfrm>
            <a:off x="7267651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VLE Activity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60FEE8-A6BE-4C5A-AB09-379FB78AFC1C}"/>
              </a:ext>
            </a:extLst>
          </p:cNvPr>
          <p:cNvSpPr>
            <a:spLocks noGrp="1"/>
          </p:cNvSpPr>
          <p:nvPr/>
        </p:nvSpPr>
        <p:spPr>
          <a:xfrm>
            <a:off x="9312249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D2DDE7-D2B2-43FF-81F5-8A948D8E5B37}"/>
              </a:ext>
            </a:extLst>
          </p:cNvPr>
          <p:cNvSpPr>
            <a:spLocks noGrp="1"/>
          </p:cNvSpPr>
          <p:nvPr/>
        </p:nvSpPr>
        <p:spPr>
          <a:xfrm>
            <a:off x="9476841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Student-Course Dataset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208E5D-88E4-41CE-8EC9-7EB4E88EB703}"/>
              </a:ext>
            </a:extLst>
          </p:cNvPr>
          <p:cNvSpPr>
            <a:spLocks noGrp="1"/>
          </p:cNvSpPr>
          <p:nvPr/>
        </p:nvSpPr>
        <p:spPr>
          <a:xfrm>
            <a:off x="822960" y="3063240"/>
            <a:ext cx="1051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OULAD relational dataset combining student profile, registration, assessment, course and VLE activity.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Final modeling dataset: 32,593 student-course enrollments.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Target: Withdrawn = 1; Pass / Fail / Distinction = 0.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54 raw leakage-safe predictors → 93 encoded/scaled model inputs.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1EBF9-343F-44BA-8DDE-6E49239B1265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BF95FB8-A833-1381-6E05-FD50C5F314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2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D60F3D-90FF-D369-982C-354D355EE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DBECC1-25CB-3D8B-4CB1-26357410A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27164"/>
              </p:ext>
            </p:extLst>
          </p:nvPr>
        </p:nvGraphicFramePr>
        <p:xfrm>
          <a:off x="1238864" y="845574"/>
          <a:ext cx="7371736" cy="48079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6831">
                  <a:extLst>
                    <a:ext uri="{9D8B030D-6E8A-4147-A177-3AD203B41FA5}">
                      <a16:colId xmlns:a16="http://schemas.microsoft.com/office/drawing/2014/main" val="127231047"/>
                    </a:ext>
                  </a:extLst>
                </a:gridCol>
                <a:gridCol w="1892446">
                  <a:extLst>
                    <a:ext uri="{9D8B030D-6E8A-4147-A177-3AD203B41FA5}">
                      <a16:colId xmlns:a16="http://schemas.microsoft.com/office/drawing/2014/main" val="2966603876"/>
                    </a:ext>
                  </a:extLst>
                </a:gridCol>
                <a:gridCol w="4782459">
                  <a:extLst>
                    <a:ext uri="{9D8B030D-6E8A-4147-A177-3AD203B41FA5}">
                      <a16:colId xmlns:a16="http://schemas.microsoft.com/office/drawing/2014/main" val="2875814251"/>
                    </a:ext>
                  </a:extLst>
                </a:gridCol>
              </a:tblGrid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Rank</a:t>
                      </a:r>
                      <a:endParaRPr lang="en-IN" sz="975" b="1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Variable</a:t>
                      </a:r>
                      <a:endParaRPr lang="en-IN" sz="975" b="1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Overall Association</a:t>
                      </a:r>
                      <a:endParaRPr lang="en-IN" sz="975" b="1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07368"/>
                  </a:ext>
                </a:extLst>
              </a:tr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Highest Education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Very Strong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551858"/>
                  </a:ext>
                </a:extLst>
              </a:tr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Studied Credits (Credit Group)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Very Strong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623824"/>
                  </a:ext>
                </a:extLst>
              </a:tr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3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IMD Band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Strong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726491"/>
                  </a:ext>
                </a:extLst>
              </a:tr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4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Previous Attempts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 dirty="0">
                          <a:effectLst/>
                        </a:rPr>
                        <a:t>Moderate</a:t>
                      </a:r>
                      <a:endParaRPr lang="en-IN" sz="975" b="0" i="0" dirty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511254"/>
                  </a:ext>
                </a:extLst>
              </a:tr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5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Region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Moderate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337327"/>
                  </a:ext>
                </a:extLst>
              </a:tr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6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Disability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Moderate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576629"/>
                  </a:ext>
                </a:extLst>
              </a:tr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7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Age Band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Weak to Moderate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537138"/>
                  </a:ext>
                </a:extLst>
              </a:tr>
              <a:tr h="5342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8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Gender</a:t>
                      </a:r>
                      <a:endParaRPr lang="en-IN" sz="975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 dirty="0">
                          <a:effectLst/>
                        </a:rPr>
                        <a:t>Weak</a:t>
                      </a:r>
                      <a:endParaRPr lang="en-IN" sz="975" b="0" i="0" dirty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29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52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85F347-203C-335E-B7C2-D136FBEDF1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8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69F31F-2B1F-EE32-BC76-AAB2C7FB3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85" y="394760"/>
            <a:ext cx="5022815" cy="52489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504426-0932-4DC5-407A-F1E7DD1E1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531" y="394761"/>
            <a:ext cx="5595714" cy="524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51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615159-CB8B-1DD4-067D-E8E8983BE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9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26B2B0-9EAE-1576-BC29-09035B10E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343918"/>
            <a:ext cx="10887639" cy="552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9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9BEF4B-045C-AA2C-F0A3-1826439ACD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10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B0A84-DA66-0891-C7F6-D75D9AD2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31" y="786581"/>
            <a:ext cx="11347487" cy="524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8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68AA72-3403-63C7-2F15-5965942C31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11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A14AC-2CCC-1DB7-B441-6641C56F5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09" y="570271"/>
            <a:ext cx="11477607" cy="57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94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FE8FAF-2794-6660-9819-0459FDD78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12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4E67C-4833-4AD6-1921-2B0D091DC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77" y="776748"/>
            <a:ext cx="10982881" cy="545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7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5360D9-C568-D03D-32E1-E52BB63720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13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E625EF-443D-1B7A-C997-76BE58AF8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11" y="671878"/>
            <a:ext cx="8976850" cy="558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83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7D5F98-5150-4685-90E6-D6FF0A4BC327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Key Methodological Principle: Leakage-Safe Prediction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065EB9-1C3B-4BD2-8B4C-38AF1F85FF7C}"/>
              </a:ext>
            </a:extLst>
          </p:cNvPr>
          <p:cNvSpPr>
            <a:spLocks noGrp="1"/>
          </p:cNvSpPr>
          <p:nvPr/>
        </p:nvSpPr>
        <p:spPr>
          <a:xfrm>
            <a:off x="640080" y="16459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Course Start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FD852-18E6-4FD2-8F16-880D63A928B3}"/>
              </a:ext>
            </a:extLst>
          </p:cNvPr>
          <p:cNvSpPr>
            <a:spLocks noGrp="1"/>
          </p:cNvSpPr>
          <p:nvPr/>
        </p:nvSpPr>
        <p:spPr>
          <a:xfrm>
            <a:off x="3236976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A3A387-308C-4B15-9172-A7BD3F4CA671}"/>
              </a:ext>
            </a:extLst>
          </p:cNvPr>
          <p:cNvSpPr>
            <a:spLocks noGrp="1"/>
          </p:cNvSpPr>
          <p:nvPr/>
        </p:nvSpPr>
        <p:spPr>
          <a:xfrm>
            <a:off x="3401568" y="16459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Only data up to</a:t>
            </a:r>
          </a:p>
          <a:p>
            <a:r>
              <a:t>25% checkpoint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434D40-EF63-49BB-A7F5-F2099B16F800}"/>
              </a:ext>
            </a:extLst>
          </p:cNvPr>
          <p:cNvSpPr>
            <a:spLocks noGrp="1"/>
          </p:cNvSpPr>
          <p:nvPr/>
        </p:nvSpPr>
        <p:spPr>
          <a:xfrm>
            <a:off x="5998464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3A754FA-788B-4728-8323-C54AFB70AB45}"/>
              </a:ext>
            </a:extLst>
          </p:cNvPr>
          <p:cNvSpPr>
            <a:spLocks noGrp="1"/>
          </p:cNvSpPr>
          <p:nvPr/>
        </p:nvSpPr>
        <p:spPr>
          <a:xfrm>
            <a:off x="6163056" y="16459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Risk Prediction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674D7-870D-492D-8372-8F78FFEB7519}"/>
              </a:ext>
            </a:extLst>
          </p:cNvPr>
          <p:cNvSpPr>
            <a:spLocks noGrp="1"/>
          </p:cNvSpPr>
          <p:nvPr/>
        </p:nvSpPr>
        <p:spPr>
          <a:xfrm>
            <a:off x="8759952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2A5838-1BEE-48D6-928B-B3C786D90E3C}"/>
              </a:ext>
            </a:extLst>
          </p:cNvPr>
          <p:cNvSpPr>
            <a:spLocks noGrp="1"/>
          </p:cNvSpPr>
          <p:nvPr/>
        </p:nvSpPr>
        <p:spPr>
          <a:xfrm>
            <a:off x="8924544" y="16459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Course Outcome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6EB67-F2FA-4AA7-A7B0-2F387821A110}"/>
              </a:ext>
            </a:extLst>
          </p:cNvPr>
          <p:cNvSpPr>
            <a:spLocks noGrp="1"/>
          </p:cNvSpPr>
          <p:nvPr/>
        </p:nvSpPr>
        <p:spPr>
          <a:xfrm>
            <a:off x="822960" y="3063240"/>
            <a:ext cx="1051560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Allowed: early VLE engagement, active days, inactivity/recency, assessments already due, early scores and registration context.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Excluded: final outcome information, date of </a:t>
            </a:r>
            <a:r>
              <a:rPr dirty="0" err="1"/>
              <a:t>unregistration</a:t>
            </a:r>
            <a:r>
              <a:rPr dirty="0"/>
              <a:t>, and activity occurring after the checkpoint.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This makes the evaluation closer to a realistic early-warning scenario.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9BA40-6F2E-4B37-847C-DFE2E9B6CA52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EBB270F-6FCF-A60A-B708-EF5796A38A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56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40D3BF-7FC1-4DB9-BF29-DF83EEDFC688}"/>
              </a:ext>
            </a:extLst>
          </p:cNvPr>
          <p:cNvSpPr>
            <a:spLocks noGrp="1"/>
          </p:cNvSpPr>
          <p:nvPr/>
        </p:nvSpPr>
        <p:spPr>
          <a:xfrm>
            <a:off x="594359" y="320040"/>
            <a:ext cx="109270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800" b="1"/>
            </a:pPr>
            <a:r>
              <a:rPr dirty="0"/>
              <a:t>Feature Engineering: From Raw Records to Early-Warning Signals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FBFA1E6-59D8-45A3-B694-2482DF0ED426}"/>
              </a:ext>
            </a:extLst>
          </p:cNvPr>
          <p:cNvSpPr>
            <a:spLocks noGrp="1"/>
          </p:cNvSpPr>
          <p:nvPr/>
        </p:nvSpPr>
        <p:spPr>
          <a:xfrm>
            <a:off x="640080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Raw OULAD Tables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1BFAF-287C-4BBD-85CC-3F2101F13257}"/>
              </a:ext>
            </a:extLst>
          </p:cNvPr>
          <p:cNvSpPr>
            <a:spLocks noGrp="1"/>
          </p:cNvSpPr>
          <p:nvPr/>
        </p:nvSpPr>
        <p:spPr>
          <a:xfrm>
            <a:off x="2684678" y="1764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8670F0-6F02-414E-B58B-156B25960DC6}"/>
              </a:ext>
            </a:extLst>
          </p:cNvPr>
          <p:cNvSpPr>
            <a:spLocks noGrp="1"/>
          </p:cNvSpPr>
          <p:nvPr/>
        </p:nvSpPr>
        <p:spPr>
          <a:xfrm>
            <a:off x="2849270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25% Checkpoint</a:t>
            </a:r>
          </a:p>
          <a:p>
            <a:r>
              <a:t>Filtering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496847-E80C-4EC5-AE31-DEB1CDF9B122}"/>
              </a:ext>
            </a:extLst>
          </p:cNvPr>
          <p:cNvSpPr>
            <a:spLocks noGrp="1"/>
          </p:cNvSpPr>
          <p:nvPr/>
        </p:nvSpPr>
        <p:spPr>
          <a:xfrm>
            <a:off x="4893868" y="1764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6FE3D02-D4BF-4A40-8398-A5CCFD4C5E34}"/>
              </a:ext>
            </a:extLst>
          </p:cNvPr>
          <p:cNvSpPr>
            <a:spLocks noGrp="1"/>
          </p:cNvSpPr>
          <p:nvPr/>
        </p:nvSpPr>
        <p:spPr>
          <a:xfrm>
            <a:off x="5058460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Feature</a:t>
            </a:r>
          </a:p>
          <a:p>
            <a:r>
              <a:t>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FB788-FCDA-431A-997C-538994C664B3}"/>
              </a:ext>
            </a:extLst>
          </p:cNvPr>
          <p:cNvSpPr>
            <a:spLocks noGrp="1"/>
          </p:cNvSpPr>
          <p:nvPr/>
        </p:nvSpPr>
        <p:spPr>
          <a:xfrm>
            <a:off x="7103059" y="1764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FAD659-BEE4-4CC6-903C-E10E0F1494CB}"/>
              </a:ext>
            </a:extLst>
          </p:cNvPr>
          <p:cNvSpPr>
            <a:spLocks noGrp="1"/>
          </p:cNvSpPr>
          <p:nvPr/>
        </p:nvSpPr>
        <p:spPr>
          <a:xfrm>
            <a:off x="7267651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54 Safe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286A4-49C2-4A47-822B-F292D90C2ECC}"/>
              </a:ext>
            </a:extLst>
          </p:cNvPr>
          <p:cNvSpPr>
            <a:spLocks noGrp="1"/>
          </p:cNvSpPr>
          <p:nvPr/>
        </p:nvSpPr>
        <p:spPr>
          <a:xfrm>
            <a:off x="9312249" y="1764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C44ACF0-DC14-4F60-8343-6BDEC88968AD}"/>
              </a:ext>
            </a:extLst>
          </p:cNvPr>
          <p:cNvSpPr>
            <a:spLocks noGrp="1"/>
          </p:cNvSpPr>
          <p:nvPr/>
        </p:nvSpPr>
        <p:spPr>
          <a:xfrm>
            <a:off x="9476841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93 Model Inputs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38631FB-3B4D-49F5-BB3B-6FB340927129}"/>
              </a:ext>
            </a:extLst>
          </p:cNvPr>
          <p:cNvSpPr>
            <a:spLocks noGrp="1"/>
          </p:cNvSpPr>
          <p:nvPr/>
        </p:nvSpPr>
        <p:spPr>
          <a:xfrm>
            <a:off x="548640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 b="1"/>
            </a:pPr>
            <a:r>
              <a:t>Student Profile</a:t>
            </a:r>
          </a:p>
          <a:p>
            <a:pPr algn="ctr">
              <a:buNone/>
              <a:defRPr sz="1200"/>
            </a:pPr>
            <a:r>
              <a:t>Age, education,</a:t>
            </a:r>
            <a:br/>
            <a:r>
              <a:t>previous attempts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4958C1-20AA-411A-B1EA-2B4B3322C8A9}"/>
              </a:ext>
            </a:extLst>
          </p:cNvPr>
          <p:cNvSpPr>
            <a:spLocks noGrp="1"/>
          </p:cNvSpPr>
          <p:nvPr/>
        </p:nvSpPr>
        <p:spPr>
          <a:xfrm>
            <a:off x="2880360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 b="1"/>
            </a:pPr>
            <a:r>
              <a:t>Registration</a:t>
            </a:r>
          </a:p>
          <a:p>
            <a:pPr algn="ctr">
              <a:buNone/>
              <a:defRPr sz="1200"/>
            </a:pPr>
            <a:r>
              <a:t>Registration timing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246CF0-4C48-4E0F-B023-8D1A36C4B313}"/>
              </a:ext>
            </a:extLst>
          </p:cNvPr>
          <p:cNvSpPr>
            <a:spLocks noGrp="1"/>
          </p:cNvSpPr>
          <p:nvPr/>
        </p:nvSpPr>
        <p:spPr>
          <a:xfrm>
            <a:off x="5212079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 b="1"/>
            </a:pPr>
            <a:r>
              <a:t>Course Context</a:t>
            </a:r>
          </a:p>
          <a:p>
            <a:pPr algn="ctr">
              <a:buNone/>
              <a:defRPr sz="1200"/>
            </a:pPr>
            <a:r>
              <a:t>Module, duration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ACD3C6-5D55-4130-B34D-934E0B735C95}"/>
              </a:ext>
            </a:extLst>
          </p:cNvPr>
          <p:cNvSpPr>
            <a:spLocks noGrp="1"/>
          </p:cNvSpPr>
          <p:nvPr/>
        </p:nvSpPr>
        <p:spPr>
          <a:xfrm>
            <a:off x="7543800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 b="1"/>
            </a:pPr>
            <a:r>
              <a:t>VLE Engagement</a:t>
            </a:r>
          </a:p>
          <a:p>
            <a:pPr algn="ctr">
              <a:buNone/>
              <a:defRPr sz="1200"/>
            </a:pPr>
            <a:r>
              <a:t>Clicks, active days,</a:t>
            </a:r>
            <a:br/>
            <a:r>
              <a:t>recency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1AFB667-41CD-412A-9740-299426A6DCA4}"/>
              </a:ext>
            </a:extLst>
          </p:cNvPr>
          <p:cNvSpPr>
            <a:spLocks noGrp="1"/>
          </p:cNvSpPr>
          <p:nvPr/>
        </p:nvSpPr>
        <p:spPr>
          <a:xfrm>
            <a:off x="9875519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 b="1"/>
            </a:pPr>
            <a:r>
              <a:t>Assessment Behavior</a:t>
            </a:r>
          </a:p>
          <a:p>
            <a:pPr algn="ctr">
              <a:buNone/>
              <a:defRPr sz="1200"/>
            </a:pPr>
            <a:r>
              <a:t>Missing submissions,</a:t>
            </a:r>
            <a:br/>
            <a:r>
              <a:t>scores, delays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0C3BAA-533C-42CE-8EA7-5B88366497D4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1CF0299-7151-36F3-1C80-EC12D14365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24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A37F3-1E43-4ED3-8DC3-01E5A61D567A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Evaluation Design: Student-Grouped Split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B556BD-B91D-4083-8394-B0A3EA2B5C5D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All Enrollments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22F41-E19B-4920-83AE-11DAB9D7F783}"/>
              </a:ext>
            </a:extLst>
          </p:cNvPr>
          <p:cNvSpPr>
            <a:spLocks noGrp="1"/>
          </p:cNvSpPr>
          <p:nvPr/>
        </p:nvSpPr>
        <p:spPr>
          <a:xfrm>
            <a:off x="2684678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CC6E76-CC62-4038-82EC-EBA0021C8DB1}"/>
              </a:ext>
            </a:extLst>
          </p:cNvPr>
          <p:cNvSpPr>
            <a:spLocks noGrp="1"/>
          </p:cNvSpPr>
          <p:nvPr/>
        </p:nvSpPr>
        <p:spPr>
          <a:xfrm>
            <a:off x="2849270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Group by Student 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DF30D-748B-4368-8024-D0E43C46C783}"/>
              </a:ext>
            </a:extLst>
          </p:cNvPr>
          <p:cNvSpPr>
            <a:spLocks noGrp="1"/>
          </p:cNvSpPr>
          <p:nvPr/>
        </p:nvSpPr>
        <p:spPr>
          <a:xfrm>
            <a:off x="4893868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4C7F42-7EB5-4CAC-B21D-582168D6E8DC}"/>
              </a:ext>
            </a:extLst>
          </p:cNvPr>
          <p:cNvSpPr>
            <a:spLocks noGrp="1"/>
          </p:cNvSpPr>
          <p:nvPr/>
        </p:nvSpPr>
        <p:spPr>
          <a:xfrm>
            <a:off x="5058460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Training</a:t>
            </a:r>
          </a:p>
          <a:p>
            <a:r>
              <a:t>70%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38F9B-03FB-46B9-845A-7B873C778C60}"/>
              </a:ext>
            </a:extLst>
          </p:cNvPr>
          <p:cNvSpPr>
            <a:spLocks noGrp="1"/>
          </p:cNvSpPr>
          <p:nvPr/>
        </p:nvSpPr>
        <p:spPr>
          <a:xfrm>
            <a:off x="7103059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9ECD21-013A-4A7B-A480-3EEBC53EABDF}"/>
              </a:ext>
            </a:extLst>
          </p:cNvPr>
          <p:cNvSpPr>
            <a:spLocks noGrp="1"/>
          </p:cNvSpPr>
          <p:nvPr/>
        </p:nvSpPr>
        <p:spPr>
          <a:xfrm>
            <a:off x="7267651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Evaluation</a:t>
            </a:r>
          </a:p>
          <a:p>
            <a:r>
              <a:t>15%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521693-CB4A-452D-98DA-0215F43623BF}"/>
              </a:ext>
            </a:extLst>
          </p:cNvPr>
          <p:cNvSpPr>
            <a:spLocks noGrp="1"/>
          </p:cNvSpPr>
          <p:nvPr/>
        </p:nvSpPr>
        <p:spPr>
          <a:xfrm>
            <a:off x="9312249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D7BF61E-63DB-4601-991A-0321B55F52D8}"/>
              </a:ext>
            </a:extLst>
          </p:cNvPr>
          <p:cNvSpPr>
            <a:spLocks noGrp="1"/>
          </p:cNvSpPr>
          <p:nvPr/>
        </p:nvSpPr>
        <p:spPr>
          <a:xfrm>
            <a:off x="9476841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Test</a:t>
            </a:r>
          </a:p>
          <a:p>
            <a:r>
              <a:t>15%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DCDE9-3E18-43B8-B324-50CF990AEFFA}"/>
              </a:ext>
            </a:extLst>
          </p:cNvPr>
          <p:cNvSpPr>
            <a:spLocks noGrp="1"/>
          </p:cNvSpPr>
          <p:nvPr/>
        </p:nvSpPr>
        <p:spPr>
          <a:xfrm>
            <a:off x="822960" y="324612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  <a:defRPr sz="1900"/>
            </a:pPr>
            <a:r>
              <a:t>Every enrollment belonging to the same student is kept in one partition.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This prevents the same student's information from appearing in both training and testing.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Training: model fitting | Evaluation: model selection | Test: final held-out comparison.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Final results are reported on the common grouped test partition.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67D13-B7C2-4F6D-B4C7-0C8EA29AF259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F372E17-0D89-87C7-D74A-BF58656D9F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92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032EA3-C54F-4C0E-B0DF-2D0A8D401938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Model Development and Selection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6440D7-7F12-488A-B818-E3FE70F4AAAA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Baseline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CAC21-DC94-4400-95D2-9D0832CB0420}"/>
              </a:ext>
            </a:extLst>
          </p:cNvPr>
          <p:cNvSpPr>
            <a:spLocks noGrp="1"/>
          </p:cNvSpPr>
          <p:nvPr/>
        </p:nvSpPr>
        <p:spPr>
          <a:xfrm>
            <a:off x="2684678" y="185623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053CA0-15C6-4935-B7B8-03D826369913}"/>
              </a:ext>
            </a:extLst>
          </p:cNvPr>
          <p:cNvSpPr>
            <a:spLocks noGrp="1"/>
          </p:cNvSpPr>
          <p:nvPr/>
        </p:nvSpPr>
        <p:spPr>
          <a:xfrm>
            <a:off x="2849270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Model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5E965-D396-4CDA-A3AF-47F4A747E232}"/>
              </a:ext>
            </a:extLst>
          </p:cNvPr>
          <p:cNvSpPr>
            <a:spLocks noGrp="1"/>
          </p:cNvSpPr>
          <p:nvPr/>
        </p:nvSpPr>
        <p:spPr>
          <a:xfrm>
            <a:off x="4893868" y="185623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432BA36-DC70-4624-BC6F-CFB347B141E3}"/>
              </a:ext>
            </a:extLst>
          </p:cNvPr>
          <p:cNvSpPr>
            <a:spLocks noGrp="1"/>
          </p:cNvSpPr>
          <p:nvPr/>
        </p:nvSpPr>
        <p:spPr>
          <a:xfrm>
            <a:off x="5058460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Imbalance</a:t>
            </a:r>
          </a:p>
          <a:p>
            <a:r>
              <a:t>Experiments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3D010-A429-4018-A8AC-853C0966BA53}"/>
              </a:ext>
            </a:extLst>
          </p:cNvPr>
          <p:cNvSpPr>
            <a:spLocks noGrp="1"/>
          </p:cNvSpPr>
          <p:nvPr/>
        </p:nvSpPr>
        <p:spPr>
          <a:xfrm>
            <a:off x="7103059" y="185623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84CA517-C3E6-4DF5-9DE8-A4C4302763AB}"/>
              </a:ext>
            </a:extLst>
          </p:cNvPr>
          <p:cNvSpPr>
            <a:spLocks noGrp="1"/>
          </p:cNvSpPr>
          <p:nvPr/>
        </p:nvSpPr>
        <p:spPr>
          <a:xfrm>
            <a:off x="7267651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Weight Sensitivity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A68C06-AC7E-44E3-9465-94A883CF4C38}"/>
              </a:ext>
            </a:extLst>
          </p:cNvPr>
          <p:cNvSpPr>
            <a:spLocks noGrp="1"/>
          </p:cNvSpPr>
          <p:nvPr/>
        </p:nvSpPr>
        <p:spPr>
          <a:xfrm>
            <a:off x="9312249" y="185623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90B6A8E-2D1D-40DB-B070-6384280561AE}"/>
              </a:ext>
            </a:extLst>
          </p:cNvPr>
          <p:cNvSpPr>
            <a:spLocks noGrp="1"/>
          </p:cNvSpPr>
          <p:nvPr/>
        </p:nvSpPr>
        <p:spPr>
          <a:xfrm>
            <a:off x="9476841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Final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11278-E610-4666-8FCF-5303FD304DA7}"/>
              </a:ext>
            </a:extLst>
          </p:cNvPr>
          <p:cNvSpPr>
            <a:spLocks noGrp="1"/>
          </p:cNvSpPr>
          <p:nvPr/>
        </p:nvSpPr>
        <p:spPr>
          <a:xfrm>
            <a:off x="640080" y="2767747"/>
            <a:ext cx="1051560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Compared Logistic Regression, tree-based models and a tabular neural network.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Explored class imbalance strategies and weight sensitivity.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Final selected model: </a:t>
            </a:r>
            <a:r>
              <a:rPr dirty="0" err="1"/>
              <a:t>HistGradientBoosting</a:t>
            </a:r>
            <a:r>
              <a:rPr dirty="0"/>
              <a:t> (HGB).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Selected imbalance approach: sample weighting with withdrawal weight = 3.0.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80F510-98CC-490C-8ED1-9E1A0E75BA4D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D8B6FC9-4DD7-06B9-CDBC-B13DAAAF85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17</a:t>
            </a:fld>
            <a:endParaRPr lang="en-IN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3F41805-04DE-23A4-3D0D-CBD820E5C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247281"/>
              </p:ext>
            </p:extLst>
          </p:nvPr>
        </p:nvGraphicFramePr>
        <p:xfrm>
          <a:off x="748145" y="4592488"/>
          <a:ext cx="10773296" cy="15169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6662">
                  <a:extLst>
                    <a:ext uri="{9D8B030D-6E8A-4147-A177-3AD203B41FA5}">
                      <a16:colId xmlns:a16="http://schemas.microsoft.com/office/drawing/2014/main" val="2185023389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258877688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1882491944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1768651756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991982106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2127776782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3984413416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3234638293"/>
                    </a:ext>
                  </a:extLst>
                </a:gridCol>
              </a:tblGrid>
              <a:tr h="18395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Model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Accuracy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Balanced Acc.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ROC-AUC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PR-AUC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Precision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Recall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F1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98609381"/>
                  </a:ext>
                </a:extLst>
              </a:tr>
              <a:tr h="38302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Logistic Regression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0.825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0.807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0.874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0.802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0.710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0.757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0.733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8666334"/>
                  </a:ext>
                </a:extLst>
              </a:tr>
              <a:tr h="38302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Random Forest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0.837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0.788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0.883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0.819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0.797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0.652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0.717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3491119"/>
                  </a:ext>
                </a:extLst>
              </a:tr>
              <a:tr h="38302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HistGradientBoosting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0.832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0.813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0.883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0.824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0.724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0.759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0.741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848004"/>
                  </a:ext>
                </a:extLst>
              </a:tr>
              <a:tr h="18395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XGBoost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0.833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0.815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0.885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0.824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0.724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0.764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0.744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9867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955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9A5CBC-9327-43F4-BB3D-99C2FAB42CC5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Final Model Performance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138F867-B08B-40E3-90DB-C7D81718A3B5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00"/>
            </a:pPr>
            <a:r>
              <a:t>Accuracy</a:t>
            </a:r>
          </a:p>
          <a:p>
            <a:pPr algn="ctr">
              <a:buNone/>
              <a:defRPr sz="2400" b="1"/>
            </a:pPr>
            <a:r>
              <a:t>0.816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E077BD-DD5C-4248-9C39-D30CC50AA9CB}"/>
              </a:ext>
            </a:extLst>
          </p:cNvPr>
          <p:cNvSpPr>
            <a:spLocks noGrp="1"/>
          </p:cNvSpPr>
          <p:nvPr/>
        </p:nvSpPr>
        <p:spPr>
          <a:xfrm>
            <a:off x="3429000" y="141732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00"/>
            </a:pPr>
            <a:r>
              <a:t>Balanced Accuracy</a:t>
            </a:r>
          </a:p>
          <a:p>
            <a:pPr algn="ctr">
              <a:buNone/>
              <a:defRPr sz="2400" b="1"/>
            </a:pPr>
            <a:r>
              <a:t>0.804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A178C5-F78D-4782-92C1-EE6BBA50064A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00"/>
            </a:pPr>
            <a:r>
              <a:t>ROC-AUC</a:t>
            </a:r>
          </a:p>
          <a:p>
            <a:pPr algn="ctr">
              <a:buNone/>
              <a:defRPr sz="2400" b="1"/>
            </a:pPr>
            <a:r>
              <a:t>0.874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B2F184-BEB1-42BD-9B58-BC032FA54B63}"/>
              </a:ext>
            </a:extLst>
          </p:cNvPr>
          <p:cNvSpPr>
            <a:spLocks noGrp="1"/>
          </p:cNvSpPr>
          <p:nvPr/>
        </p:nvSpPr>
        <p:spPr>
          <a:xfrm>
            <a:off x="9006839" y="141732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00"/>
            </a:pPr>
            <a:r>
              <a:t>PR-AUC</a:t>
            </a:r>
          </a:p>
          <a:p>
            <a:pPr algn="ctr">
              <a:buNone/>
              <a:defRPr sz="2400" b="1"/>
            </a:pPr>
            <a:r>
              <a:t>0.797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B7C793-E1D9-4ECF-B960-65EE8D6CF5D5}"/>
              </a:ext>
            </a:extLst>
          </p:cNvPr>
          <p:cNvSpPr>
            <a:spLocks noGrp="1"/>
          </p:cNvSpPr>
          <p:nvPr/>
        </p:nvSpPr>
        <p:spPr>
          <a:xfrm>
            <a:off x="640080" y="283464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00"/>
            </a:pPr>
            <a:r>
              <a:t>Withdrawal Precision</a:t>
            </a:r>
          </a:p>
          <a:p>
            <a:pPr algn="ctr">
              <a:buNone/>
              <a:defRPr sz="2400" b="1"/>
            </a:pPr>
            <a:r>
              <a:t>0.667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FF88D88-D98A-4C8A-B9AC-EF1D40915DE5}"/>
              </a:ext>
            </a:extLst>
          </p:cNvPr>
          <p:cNvSpPr>
            <a:spLocks noGrp="1"/>
          </p:cNvSpPr>
          <p:nvPr/>
        </p:nvSpPr>
        <p:spPr>
          <a:xfrm>
            <a:off x="3429000" y="283464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00"/>
            </a:pPr>
            <a:r>
              <a:t>Withdrawal Recall</a:t>
            </a:r>
          </a:p>
          <a:p>
            <a:pPr algn="ctr">
              <a:buNone/>
              <a:defRPr sz="2400" b="1"/>
            </a:pPr>
            <a:r>
              <a:t>0.775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018E44-099E-4395-9DCE-2F7A3796A5C0}"/>
              </a:ext>
            </a:extLst>
          </p:cNvPr>
          <p:cNvSpPr>
            <a:spLocks noGrp="1"/>
          </p:cNvSpPr>
          <p:nvPr/>
        </p:nvSpPr>
        <p:spPr>
          <a:xfrm>
            <a:off x="6217920" y="283464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00"/>
            </a:pPr>
            <a:r>
              <a:t>Withdrawal F1</a:t>
            </a:r>
          </a:p>
          <a:p>
            <a:pPr algn="ctr">
              <a:buNone/>
              <a:defRPr sz="2400" b="1"/>
            </a:pPr>
            <a:r>
              <a:t>0.717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C751E-B67A-41EE-98DD-2E8BC57BDA9F}"/>
              </a:ext>
            </a:extLst>
          </p:cNvPr>
          <p:cNvSpPr>
            <a:spLocks noGrp="1"/>
          </p:cNvSpPr>
          <p:nvPr/>
        </p:nvSpPr>
        <p:spPr>
          <a:xfrm>
            <a:off x="868680" y="4709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  <a:defRPr sz="1900"/>
            </a:pPr>
            <a:r>
              <a:t>Key takeaway: The selected HGB model identified approximately 77.5% of actual withdrawals on the final grouped test set.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B2310-64E9-43A1-87D2-B9D242898715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173143-293D-8C6C-F917-840F6CD2EF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1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CAFD17-710D-4021-B4C1-A277C9845C28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What Drives Early Dropout Risk?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85F6450-5AD3-446F-A2D1-2352A6373DFA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Missing Early</a:t>
            </a:r>
          </a:p>
          <a:p>
            <a:r>
              <a:t>Assessments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CCAF23-D15A-41ED-B53F-8F718E7A7467}"/>
              </a:ext>
            </a:extLst>
          </p:cNvPr>
          <p:cNvSpPr>
            <a:spLocks noGrp="1"/>
          </p:cNvSpPr>
          <p:nvPr/>
        </p:nvSpPr>
        <p:spPr>
          <a:xfrm>
            <a:off x="3236976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77D9B8-5022-4F2A-8649-9CE554DFCC1E}"/>
              </a:ext>
            </a:extLst>
          </p:cNvPr>
          <p:cNvSpPr>
            <a:spLocks noGrp="1"/>
          </p:cNvSpPr>
          <p:nvPr/>
        </p:nvSpPr>
        <p:spPr>
          <a:xfrm>
            <a:off x="3401568" y="169164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Low VLE</a:t>
            </a:r>
          </a:p>
          <a:p>
            <a:r>
              <a:t>Engagement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13A37-78C4-4809-BD15-53D110015699}"/>
              </a:ext>
            </a:extLst>
          </p:cNvPr>
          <p:cNvSpPr>
            <a:spLocks noGrp="1"/>
          </p:cNvSpPr>
          <p:nvPr/>
        </p:nvSpPr>
        <p:spPr>
          <a:xfrm>
            <a:off x="5998464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965FEC-97AF-4FAD-A52D-1B95F9AED4C3}"/>
              </a:ext>
            </a:extLst>
          </p:cNvPr>
          <p:cNvSpPr>
            <a:spLocks noGrp="1"/>
          </p:cNvSpPr>
          <p:nvPr/>
        </p:nvSpPr>
        <p:spPr>
          <a:xfrm>
            <a:off x="6163056" y="169164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Long Inactivity /</a:t>
            </a:r>
          </a:p>
          <a:p>
            <a:r>
              <a:t>Recency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ED9DC-201A-4725-9E36-421ED8418082}"/>
              </a:ext>
            </a:extLst>
          </p:cNvPr>
          <p:cNvSpPr>
            <a:spLocks noGrp="1"/>
          </p:cNvSpPr>
          <p:nvPr/>
        </p:nvSpPr>
        <p:spPr>
          <a:xfrm>
            <a:off x="8759952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4AFEBF-80D1-41C7-9E3D-4494FD949470}"/>
              </a:ext>
            </a:extLst>
          </p:cNvPr>
          <p:cNvSpPr>
            <a:spLocks noGrp="1"/>
          </p:cNvSpPr>
          <p:nvPr/>
        </p:nvSpPr>
        <p:spPr>
          <a:xfrm>
            <a:off x="8924544" y="169164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Weak Early Academic</a:t>
            </a:r>
          </a:p>
          <a:p>
            <a:r>
              <a:t>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8F0A3-58D7-494F-9222-9F6CD46FC78A}"/>
              </a:ext>
            </a:extLst>
          </p:cNvPr>
          <p:cNvSpPr>
            <a:spLocks noGrp="1"/>
          </p:cNvSpPr>
          <p:nvPr/>
        </p:nvSpPr>
        <p:spPr>
          <a:xfrm>
            <a:off x="822960" y="3337560"/>
            <a:ext cx="1042416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 strongest recurring predictive signals came from early assessment behavior and learning engagement.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These features indicate predictive association—not causation.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 results can support targeted attention, but they do not prove that changing one feature alone will change an outcome.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43E9C5-BE9F-4E4C-92D2-02C1BDD74476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D9853AC-AE10-5749-7B6D-FFF7724781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91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E32CE8-928B-4178-8047-8FD718D4A940}"/>
              </a:ext>
            </a:extLst>
          </p:cNvPr>
          <p:cNvSpPr>
            <a:spLocks noGrp="1"/>
          </p:cNvSpPr>
          <p:nvPr/>
        </p:nvSpPr>
        <p:spPr>
          <a:xfrm>
            <a:off x="884902" y="32004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800" b="1"/>
            </a:pPr>
            <a:r>
              <a:t>Beyond Accuracy: Model Comparison and Responsible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B3B92-6AD7-4688-82EB-65142940CFE7}"/>
              </a:ext>
            </a:extLst>
          </p:cNvPr>
          <p:cNvSpPr>
            <a:spLocks noGrp="1"/>
          </p:cNvSpPr>
          <p:nvPr/>
        </p:nvSpPr>
        <p:spPr>
          <a:xfrm>
            <a:off x="777240" y="1417320"/>
            <a:ext cx="105156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Compared multiple model families instead of relying on a single algorithm.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Conducted subgroup-oriented evaluation to understand performance trade-offs.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The three-seed </a:t>
            </a:r>
            <a:r>
              <a:rPr dirty="0" err="1"/>
              <a:t>PyTorch</a:t>
            </a:r>
            <a:r>
              <a:rPr dirty="0"/>
              <a:t> MLP was competitive but did not clearly outperform the selected HGB model.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Model choice considered predictive performance together with practical trade-offs.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D5B30-27F1-4652-856F-CA92612453A3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F603B-D646-17FF-9DCB-B554A0ADD6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20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FCF568-7BEC-A452-E09E-3C8EFB1C0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782" y="3818604"/>
            <a:ext cx="10429015" cy="179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30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68E0-FA84-1C1D-9477-AEE22061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34787B-C6FA-3933-F8E7-456143E37998}"/>
              </a:ext>
            </a:extLst>
          </p:cNvPr>
          <p:cNvSpPr>
            <a:spLocks noGrp="1"/>
          </p:cNvSpPr>
          <p:nvPr/>
        </p:nvSpPr>
        <p:spPr>
          <a:xfrm>
            <a:off x="884902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800" b="1"/>
            </a:pPr>
            <a:r>
              <a:rPr lang="en-US" sz="2800" b="1" dirty="0"/>
              <a:t>Final Metrics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67C03-9CB4-F6F4-4620-9F31466B41AD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52A02-9706-5876-8EDC-28A4F8400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21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A2ED0E-0E47-0632-2D8D-831E535E3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930375"/>
              </p:ext>
            </p:extLst>
          </p:nvPr>
        </p:nvGraphicFramePr>
        <p:xfrm>
          <a:off x="1039090" y="1184564"/>
          <a:ext cx="10573792" cy="4862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86896">
                  <a:extLst>
                    <a:ext uri="{9D8B030D-6E8A-4147-A177-3AD203B41FA5}">
                      <a16:colId xmlns:a16="http://schemas.microsoft.com/office/drawing/2014/main" val="739198800"/>
                    </a:ext>
                  </a:extLst>
                </a:gridCol>
                <a:gridCol w="5286896">
                  <a:extLst>
                    <a:ext uri="{9D8B030D-6E8A-4147-A177-3AD203B41FA5}">
                      <a16:colId xmlns:a16="http://schemas.microsoft.com/office/drawing/2014/main" val="4290209909"/>
                    </a:ext>
                  </a:extLst>
                </a:gridCol>
              </a:tblGrid>
              <a:tr h="6078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 b="1" dirty="0">
                          <a:effectLst/>
                        </a:rPr>
                        <a:t>Metric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 b="1" dirty="0">
                          <a:effectLst/>
                        </a:rPr>
                        <a:t>Value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6746642"/>
                  </a:ext>
                </a:extLst>
              </a:tr>
              <a:tr h="6078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Accuracy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0.816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4050508"/>
                  </a:ext>
                </a:extLst>
              </a:tr>
              <a:tr h="6078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Balanced Accuracy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0.804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6223393"/>
                  </a:ext>
                </a:extLst>
              </a:tr>
              <a:tr h="6078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ROC-AUC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0.874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7001512"/>
                  </a:ext>
                </a:extLst>
              </a:tr>
              <a:tr h="6078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PR-AUC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0.797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0237252"/>
                  </a:ext>
                </a:extLst>
              </a:tr>
              <a:tr h="6078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Withdrawal Precision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0.667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4249342"/>
                  </a:ext>
                </a:extLst>
              </a:tr>
              <a:tr h="6078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Withdrawal Recall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0.775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4516423"/>
                  </a:ext>
                </a:extLst>
              </a:tr>
              <a:tr h="6078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Withdrawal F1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0.717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8023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595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AC5A7-875C-4310-9442-74E2EDF56BC3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Interactive Three-Model Inference Dashboard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C8B960-A5A0-45E7-A6CF-EE74A7AC7C5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Selected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7D2A0-F342-49B0-A3FF-BCBCF6628492}"/>
              </a:ext>
            </a:extLst>
          </p:cNvPr>
          <p:cNvSpPr>
            <a:spLocks noGrp="1"/>
          </p:cNvSpPr>
          <p:nvPr/>
        </p:nvSpPr>
        <p:spPr>
          <a:xfrm>
            <a:off x="2316480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437D7C-4F9B-4E44-B94D-22CD3BA41FBC}"/>
              </a:ext>
            </a:extLst>
          </p:cNvPr>
          <p:cNvSpPr>
            <a:spLocks noGrp="1"/>
          </p:cNvSpPr>
          <p:nvPr/>
        </p:nvSpPr>
        <p:spPr>
          <a:xfrm>
            <a:off x="2481071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54 Raw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64DE4-E062-478B-BF69-A4A0A6A8C098}"/>
              </a:ext>
            </a:extLst>
          </p:cNvPr>
          <p:cNvSpPr>
            <a:spLocks noGrp="1"/>
          </p:cNvSpPr>
          <p:nvPr/>
        </p:nvSpPr>
        <p:spPr>
          <a:xfrm>
            <a:off x="4157471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94C437-BE9C-410A-B65C-D260A20A47B5}"/>
              </a:ext>
            </a:extLst>
          </p:cNvPr>
          <p:cNvSpPr>
            <a:spLocks noGrp="1"/>
          </p:cNvSpPr>
          <p:nvPr/>
        </p:nvSpPr>
        <p:spPr>
          <a:xfrm>
            <a:off x="4322064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Saved 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5EA85-7ECB-44B2-9891-52D023925611}"/>
              </a:ext>
            </a:extLst>
          </p:cNvPr>
          <p:cNvSpPr>
            <a:spLocks noGrp="1"/>
          </p:cNvSpPr>
          <p:nvPr/>
        </p:nvSpPr>
        <p:spPr>
          <a:xfrm>
            <a:off x="5998464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105171-F626-4718-BA11-A5D8C2241290}"/>
              </a:ext>
            </a:extLst>
          </p:cNvPr>
          <p:cNvSpPr>
            <a:spLocks noGrp="1"/>
          </p:cNvSpPr>
          <p:nvPr/>
        </p:nvSpPr>
        <p:spPr>
          <a:xfrm>
            <a:off x="6163055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93 Inputs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8BD7A-2E10-4730-94A0-00DCBBAD6E50}"/>
              </a:ext>
            </a:extLst>
          </p:cNvPr>
          <p:cNvSpPr>
            <a:spLocks noGrp="1"/>
          </p:cNvSpPr>
          <p:nvPr/>
        </p:nvSpPr>
        <p:spPr>
          <a:xfrm>
            <a:off x="7839455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F9C52E-A03F-43AD-BC4D-806AB8A28097}"/>
              </a:ext>
            </a:extLst>
          </p:cNvPr>
          <p:cNvSpPr>
            <a:spLocks noGrp="1"/>
          </p:cNvSpPr>
          <p:nvPr/>
        </p:nvSpPr>
        <p:spPr>
          <a:xfrm>
            <a:off x="8004047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LR / HGB / MLP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966B03-D554-4EEC-A7E1-6FF56FACA8FB}"/>
              </a:ext>
            </a:extLst>
          </p:cNvPr>
          <p:cNvSpPr>
            <a:spLocks noGrp="1"/>
          </p:cNvSpPr>
          <p:nvPr/>
        </p:nvSpPr>
        <p:spPr>
          <a:xfrm>
            <a:off x="9680448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 sz="2200"/>
            </a:pPr>
            <a: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083155D-B341-4F53-AE27-3F84AA9B9A89}"/>
              </a:ext>
            </a:extLst>
          </p:cNvPr>
          <p:cNvSpPr>
            <a:spLocks noGrp="1"/>
          </p:cNvSpPr>
          <p:nvPr/>
        </p:nvSpPr>
        <p:spPr>
          <a:xfrm>
            <a:off x="9845040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/>
            </a:pPr>
            <a:r>
              <a:t>Risk + Decision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12FB3-C842-4235-B15C-2C01C640D909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1042416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Compare Logistic Regression, </a:t>
            </a:r>
            <a:r>
              <a:rPr dirty="0" err="1"/>
              <a:t>HistGradientBoosting</a:t>
            </a:r>
            <a:r>
              <a:rPr dirty="0"/>
              <a:t> and the three-seed neural network side by side.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Run individual models or all models together.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Adjust the case-level decision threshold.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Perform what-if editing of selected engagement or assessment inputs.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Explore performance, prediction differences and curated example cases.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D901E9-A232-45D3-B952-52477AAFDBA9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2328D9A-C8B4-FD43-2CC6-A344B65ED0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652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E32CE8-928B-4178-8047-8FD718D4A940}"/>
              </a:ext>
            </a:extLst>
          </p:cNvPr>
          <p:cNvSpPr>
            <a:spLocks noGrp="1"/>
          </p:cNvSpPr>
          <p:nvPr/>
        </p:nvSpPr>
        <p:spPr>
          <a:xfrm>
            <a:off x="884902" y="32004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800" b="1"/>
            </a:pPr>
            <a:r>
              <a:t>Fairness Evaluation: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B3B92-6AD7-4688-82EB-65142940CFE7}"/>
              </a:ext>
            </a:extLst>
          </p:cNvPr>
          <p:cNvSpPr>
            <a:spLocks noGrp="1"/>
          </p:cNvSpPr>
          <p:nvPr/>
        </p:nvSpPr>
        <p:spPr>
          <a:xfrm>
            <a:off x="777240" y="1417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DPD compares eligible-group alert rates; EOD compares withdrawal recall (TPR). Lower gaps indicate more similar observed outcomes.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Across Logistic Regression, Histogram Boosting, and the Neural Network, gender gaps were small (DPD 0.006–0.030; EOD 0.006–0.016), while disability gaps were larger.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Largest DPD: 0.238 for disability × deprivation (Histogram Boosting). Largest EOD: 0.171 for IMD band (Logistic Regression). The earlier MLP audit also found larger gaps for IMD and highest education.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No model minimized every gap. These are descriptive test-set checks; eligible groups require at least 30 withdrawals and 30 non-withdrawals, while the 55+ estimate was uncertain because it contained only 34 observations.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D5B30-27F1-4652-856F-CA92612453A3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8C40C-2E6E-67FE-D897-B8FF80041B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30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2D0846-8498-4E3E-8850-84BD67963C26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Live Dashboard 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9AE1E-76B0-42FE-9FBD-7EFC9F1B1522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  <a:defRPr sz="1900"/>
            </a:pPr>
            <a:r>
              <a:t>1. Select a curated student case.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2. Run all three models and compare withdrawal probabilities.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3. Demonstrate the case: “HGB catches a withdrawal others miss.”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   Logistic Regression ≈ 11% | HGB ≈ 75% | Neural Network ≈ 23%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4. Change the decision threshold and observe the classification change.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5. Use what-if editing and rerun the models.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Important: the threshold slider changes the displayed case decision, not the published benchmark metrics.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ED471-C54E-44E6-A567-29DA2E123988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E722-7552-E29B-97F7-2F8C08EFDD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612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E10866-ECBD-44FB-B4C3-217F86DAF5C1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8E399-1C1D-4DC1-BFAC-072EAD37949A}"/>
              </a:ext>
            </a:extLst>
          </p:cNvPr>
          <p:cNvSpPr>
            <a:spLocks noGrp="1"/>
          </p:cNvSpPr>
          <p:nvPr/>
        </p:nvSpPr>
        <p:spPr>
          <a:xfrm>
            <a:off x="777240" y="1280160"/>
            <a:ext cx="10515600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Early dropout prediction is feasible at the 25% course checkpoint.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Strict leakage control is essential for credible early-warning modeling.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Student-grouped evaluation reduces the risk of learner overlap across partitions.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Early assessment behavior and engagement provide valuable predictive signals.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 err="1"/>
              <a:t>HistGradientBoosting</a:t>
            </a:r>
            <a:r>
              <a:rPr dirty="0"/>
              <a:t> delivered the strongest final benchmark among the selected approaches.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The dashboard translates the model artifacts into an interactive comparison and what-if experience.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4155E-9844-40DF-8148-A36B6C94B491}"/>
              </a:ext>
            </a:extLst>
          </p:cNvPr>
          <p:cNvSpPr>
            <a:spLocks noGrp="1"/>
          </p:cNvSpPr>
          <p:nvPr/>
        </p:nvSpPr>
        <p:spPr>
          <a:xfrm>
            <a:off x="777239" y="5532120"/>
            <a:ext cx="109728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 b="1"/>
            </a:pPr>
            <a:r>
              <a:t>Key contribution: a realistic, leakage-safe early-warning system built around information available when intervention is still possible.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233B9-2FCB-4FDA-944D-1B3C3913D65F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E5CBA-BE19-9AA3-519A-77A4A832D2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621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9CF0C-93CB-4124-B61D-86ED40392204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800" b="1"/>
            </a:pPr>
            <a:r>
              <a:t>Backup: Limitations and 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EB545-5C2B-452D-B66A-6CCCD83C9485}"/>
              </a:ext>
            </a:extLst>
          </p:cNvPr>
          <p:cNvSpPr>
            <a:spLocks noGrp="1"/>
          </p:cNvSpPr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  <a:defRPr sz="1900"/>
            </a:pPr>
            <a:r>
              <a:t>Limitations</a:t>
            </a:r>
          </a:p>
          <a:p>
            <a:pPr lvl="1">
              <a:spcAft>
                <a:spcPts val="1000"/>
              </a:spcAft>
              <a:buNone/>
              <a:defRPr sz="1700"/>
            </a:pPr>
            <a:r>
              <a:t>One fixed grouped split and a historical test partition.</a:t>
            </a:r>
          </a:p>
          <a:p>
            <a:pPr lvl="1">
              <a:spcAft>
                <a:spcPts val="1000"/>
              </a:spcAft>
              <a:buNone/>
              <a:defRPr sz="1700"/>
            </a:pPr>
            <a:r>
              <a:t>A 0.50 threshold may not be operationally optimal for every intervention setting.</a:t>
            </a:r>
          </a:p>
          <a:p>
            <a:pPr lvl="1">
              <a:spcAft>
                <a:spcPts val="1000"/>
              </a:spcAft>
              <a:buNone/>
              <a:defRPr sz="1700"/>
            </a:pPr>
            <a:r>
              <a:t>Assessment-score availability should be validated for real-world deployment.</a:t>
            </a:r>
          </a:p>
          <a:p>
            <a:pPr>
              <a:spcAft>
                <a:spcPts val="1000"/>
              </a:spcAft>
              <a:buNone/>
              <a:defRPr sz="1900"/>
            </a:pPr>
            <a:r>
              <a:t>Future Work</a:t>
            </a:r>
          </a:p>
          <a:p>
            <a:pPr lvl="1">
              <a:spcAft>
                <a:spcPts val="1000"/>
              </a:spcAft>
              <a:buNone/>
              <a:defRPr sz="1700"/>
            </a:pPr>
            <a:r>
              <a:t>Probability calibration and capacity-based threshold selection.</a:t>
            </a:r>
          </a:p>
          <a:p>
            <a:pPr lvl="1">
              <a:spcAft>
                <a:spcPts val="1000"/>
              </a:spcAft>
              <a:buNone/>
              <a:defRPr sz="1700"/>
            </a:pPr>
            <a:r>
              <a:t>Repeated grouped and temporal validation.</a:t>
            </a:r>
          </a:p>
          <a:p>
            <a:pPr lvl="1">
              <a:spcAft>
                <a:spcPts val="1000"/>
              </a:spcAft>
              <a:buNone/>
              <a:defRPr sz="1700"/>
            </a:pPr>
            <a:r>
              <a:t>Sequence-based modeling of weekly engagement patterns.</a:t>
            </a:r>
          </a:p>
          <a:p>
            <a:pPr lvl="1">
              <a:spcAft>
                <a:spcPts val="1000"/>
              </a:spcAft>
              <a:buNone/>
              <a:defRPr sz="1700"/>
            </a:pPr>
            <a:r>
              <a:t>Explainable advisor-facing summaries and deployment monitoring.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99FC6-79E2-4DD1-91DC-E19461A5AD58}"/>
              </a:ext>
            </a:extLst>
          </p:cNvPr>
          <p:cNvSpPr>
            <a:spLocks noGrp="1"/>
          </p:cNvSpPr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900"/>
            </a:pPr>
            <a:r>
              <a:t>Student Dropout Risk Prediction | Final 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FA88B-AD89-CDF5-ED4A-0B96360AE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33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1451</Words>
  <Application>Microsoft Office PowerPoint</Application>
  <DocSecurity>0</DocSecurity>
  <PresentationFormat>Widescreen</PresentationFormat>
  <Paragraphs>345</Paragraphs>
  <Slides>26</Slides>
  <Notes>18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Georgia</vt:lpstr>
      <vt:lpstr>system-ui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jay yadav</cp:lastModifiedBy>
  <cp:revision>1</cp:revision>
  <dcterms:created xsi:type="dcterms:W3CDTF">2026-08-28T07:42:58Z</dcterms:created>
  <dcterms:modified xsi:type="dcterms:W3CDTF">2026-08-29T07:29:46Z</dcterms:modified>
</cp:coreProperties>
</file>