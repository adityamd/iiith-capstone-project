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6" r:id="rId1"/>
  </p:sldMasterIdLst>
  <p:notesMasterIdLst>
    <p:notesMasterId r:id="rId20"/>
  </p:notesMasterIdLst>
  <p:sldIdLst>
    <p:sldId id="256" r:id="rId2"/>
    <p:sldId id="272" r:id="rId3"/>
    <p:sldId id="257" r:id="rId4"/>
    <p:sldId id="27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5" r:id="rId13"/>
    <p:sldId id="265" r:id="rId14"/>
    <p:sldId id="266" r:id="rId15"/>
    <p:sldId id="267" r:id="rId16"/>
    <p:sldId id="268" r:id="rId17"/>
    <p:sldId id="269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EF586-9C98-4986-A467-9BA2DE90F167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7B0CE-3FDD-495C-8AA2-2C91C3A8C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73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Fainess</a:t>
            </a:r>
            <a:r>
              <a:rPr lang="en-IN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7B0CE-3FDD-495C-8AA2-2C91C3A8CBB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310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Mention git hub link and localhost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7B0CE-3FDD-495C-8AA2-2C91C3A8CBB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376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7B0CE-3FDD-495C-8AA2-2C91C3A8CBB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500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45061-6F89-023A-1201-5CA328C00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50AEA-DD6A-C968-901B-316F92938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B187B-2A1F-B055-2E25-FFD6862C0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AA306-EBF7-9ECE-6EE9-53F4A8002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7B0CE-3FDD-495C-8AA2-2C91C3A8CBB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468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Add Plots of Dataset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7B0CE-3FDD-495C-8AA2-2C91C3A8CBB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02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Plot &amp; Tables- 3 model comparison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7B0CE-3FDD-495C-8AA2-2C91C3A8CBB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282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Add numbers found during experiment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7B0CE-3FDD-495C-8AA2-2C91C3A8CBB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78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8FEBB-8282-68D4-D50B-604B90FD1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BA7E7-4F31-FE59-865F-B8E108393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796B8-147B-AA4B-A332-F35986855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9D92-152E-4E20-B5BD-B0228436D852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7C14A-C496-2310-DD4C-EC48554ED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AAEE7-CEB3-6B56-35A5-2051986B1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45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306D-957D-65EE-B77D-6626876D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52FA4-B029-39A2-62EB-33AC2722E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D33C-ABA7-AE1B-9EEC-B1814367D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1B479-8496-4788-854D-1BA86770203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2CFF7-65F8-C0ED-EC8F-45A154CF5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EBB9C-9B2B-2E5D-D9A9-696DF1B8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09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602D-D5FA-BA7A-E9F3-CD59E2F2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CB6D3-532B-8E5E-7267-098661E54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E9472-A292-058E-076A-00CE5B7B0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7288-B95D-4304-B27F-5D8D43C59496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7DC0C-9F20-B8C7-F2A4-B2383204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861E-A9B5-803F-BBA0-1C0E2D15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7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6923D-E84F-8AEC-86BD-0B1B4AECB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20B3C-2036-EB5A-94A8-A5283C247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0DA27-37B4-5F55-F2B0-08D70885D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482C2-DBFA-29D7-71E5-53FB63A8F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3C42-00D9-40D8-A31A-993888832665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6C0C3-7B90-D009-3C83-F071C712D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A8618-E2BD-D538-0B59-773FA38E3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0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4F739-2CE8-BDD9-5C60-51B41C59C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20168-C350-D3F7-E14B-B1710FDA9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6E1A7-1409-E52C-8352-5467EA0AD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88F331-9D13-B962-FB38-0374D1D79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B78B2-0B47-8225-BAC1-2F75A04157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D1688-D810-E82F-9663-0D31BA9C7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D3900-7059-4F4C-A895-41BD5FE87EC9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9012D3-70BA-06CC-63A0-D494F901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1A3745-243F-90C7-4CBE-1752910B3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50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99DC-B6F9-676F-06FD-73E70C579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33B7D3-E31B-7CD7-3ADC-A77452F1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977EB-01CE-4E5A-9CDE-046269DB633B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29395-304A-7623-37ED-04F37BDF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43ED7-F2C5-E80B-B6CF-BB8E02A16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79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914416-286C-D0E3-B201-8A3D15137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0FC1-8148-432E-A3C8-5FAC572833B5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2E1AC-E212-FB9D-63A4-23E95D719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ED004-C4EB-6F54-2612-DD467D2D8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71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DC602-D399-26B3-2B18-AEF1E23DE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E4BBC-9150-B41E-D47F-1AC5D654C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E9DC6-B851-7E15-6DB3-90BA7C90E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A1C0B-EA10-AA1D-4895-99E32F207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5A27E-9EC5-49BF-A394-3B0F711EC7FD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623F9-3944-BB25-7D03-2A6D27A0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90D4F-3D86-3B53-1CCB-F7483E19E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555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1351C-B023-D682-4E9F-58F332CEB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F8F73C-5541-B388-34FF-9D8C0F0FA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7700F-AD6D-D55B-CB71-2F58FA9B1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08E3B-E958-E6FE-80A6-A7F021DE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65D6-DEDD-4517-8DDC-0CFE4C4ECB89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5C16E-466E-72E0-88EF-3C149B50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1E7CB-BBDE-0D0E-559C-CFEDBB43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0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723F-EDD3-78A6-1804-750108B7F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D2029-11D2-1EF5-06E5-1715942D1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676C4-C6F6-0FBC-1F03-D737021F2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89544-DC84-46EE-BDC2-CBDF006EA8F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A2261-3E8C-36E4-FF16-5364FACC2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A3AE8-D6B8-12E6-D775-C59E25D7F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53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9FAABD-56D6-F4E1-6712-C158A0BB56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B77558-E9FD-3297-DCB0-DFF67BF1C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F169D-C811-58AA-0651-4E1A6DA2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D2611-265E-47A3-950C-8541C672D8D8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AEE89-6A3F-4D2A-F1A7-434D67158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CF091-9B39-CB91-887B-2AE4D72E2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87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D2CC73-B112-66A2-342D-F17DA1C7B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1BCA9-B004-C5D9-9CF0-1B868F49A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E1A9F-95D3-B77E-E76E-D1DAB19901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1F307-F8FE-4A41-92EB-764BBE0B10BE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732C2-65E1-E316-65E7-A5312E1CB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Student Dropout Risk Prediction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5CF1A-8C94-FC59-B9A2-8FC51C319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91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2507" y="3073072"/>
            <a:ext cx="117294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>
                <a:latin typeface="Georgia" panose="02040502050405020303" pitchFamily="18" charset="0"/>
              </a:rPr>
              <a:t>Predicting </a:t>
            </a:r>
            <a:r>
              <a:rPr lang="en-IN" dirty="0">
                <a:latin typeface="Georgia" panose="02040502050405020303" pitchFamily="18" charset="0"/>
              </a:rPr>
              <a:t>Fair </a:t>
            </a:r>
            <a:r>
              <a:rPr dirty="0">
                <a:latin typeface="Georgia" panose="02040502050405020303" pitchFamily="18" charset="0"/>
              </a:rPr>
              <a:t>Student Dropout Risk in Online Learning Platforms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9DA9ED-87FC-8BA1-FFA6-8F9DD737B52A}"/>
              </a:ext>
            </a:extLst>
          </p:cNvPr>
          <p:cNvSpPr txBox="1"/>
          <p:nvPr/>
        </p:nvSpPr>
        <p:spPr>
          <a:xfrm>
            <a:off x="3451317" y="2218721"/>
            <a:ext cx="5289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latin typeface="Georgia" panose="02040502050405020303" pitchFamily="18" charset="0"/>
              </a:rPr>
              <a:t>eMasters</a:t>
            </a:r>
            <a:r>
              <a:rPr lang="en-US" sz="2800" b="1" dirty="0">
                <a:latin typeface="Georgia" panose="02040502050405020303" pitchFamily="18" charset="0"/>
              </a:rPr>
              <a:t> Capstone Project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F74C9C-7C6F-5369-F8F0-A9FF2E433A3C}"/>
              </a:ext>
            </a:extLst>
          </p:cNvPr>
          <p:cNvSpPr txBox="1"/>
          <p:nvPr/>
        </p:nvSpPr>
        <p:spPr>
          <a:xfrm>
            <a:off x="3826788" y="4044236"/>
            <a:ext cx="45384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dirty="0">
                <a:latin typeface="Georgia" panose="02040502050405020303" pitchFamily="18" charset="0"/>
              </a:rPr>
              <a:t>Early-warning prediction at the 25% course checkpoint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7A3CC-A1B6-ECCA-3313-E97E01B81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1941D-857A-57D1-F89E-D1B8E093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79600-9BA7-499B-1CC8-F4AAD6588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7B768B-E16B-DCC1-B726-E69972DF1E8B}"/>
              </a:ext>
            </a:extLst>
          </p:cNvPr>
          <p:cNvSpPr txBox="1"/>
          <p:nvPr/>
        </p:nvSpPr>
        <p:spPr>
          <a:xfrm>
            <a:off x="754134" y="825910"/>
            <a:ext cx="11152730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/>
            </a:pPr>
            <a:r>
              <a:rPr lang="en-IN" b="1" dirty="0">
                <a:latin typeface="Georgia" panose="02040502050405020303" pitchFamily="18" charset="0"/>
              </a:rPr>
              <a:t>Group1</a:t>
            </a:r>
            <a:endParaRPr b="1" dirty="0">
              <a:latin typeface="Georgia" panose="02040502050405020303" pitchFamily="18" charset="0"/>
            </a:endParaRPr>
          </a:p>
          <a:p>
            <a:pPr algn="ctr">
              <a:spcAft>
                <a:spcPts val="1000"/>
              </a:spcAft>
              <a:defRPr sz="2000"/>
            </a:pPr>
            <a:r>
              <a:rPr sz="1400" b="1" dirty="0">
                <a:latin typeface="Georgia" panose="02040502050405020303" pitchFamily="18" charset="0"/>
              </a:rPr>
              <a:t>Team Members: </a:t>
            </a:r>
            <a:endParaRPr lang="en-IN" sz="1400" b="1" dirty="0">
              <a:latin typeface="Georgia" panose="02040502050405020303" pitchFamily="18" charset="0"/>
            </a:endParaRPr>
          </a:p>
          <a:p>
            <a:pPr algn="ctr">
              <a:spcAft>
                <a:spcPts val="1000"/>
              </a:spcAft>
              <a:defRPr sz="2000"/>
            </a:pPr>
            <a:r>
              <a:rPr lang="en-IN" sz="1400" dirty="0">
                <a:latin typeface="Georgia" panose="02040502050405020303" pitchFamily="18" charset="0"/>
              </a:rPr>
              <a:t>Aditya Tripathi </a:t>
            </a:r>
          </a:p>
          <a:p>
            <a:pPr algn="ctr">
              <a:spcAft>
                <a:spcPts val="1000"/>
              </a:spcAft>
              <a:defRPr sz="2000"/>
            </a:pPr>
            <a:r>
              <a:rPr lang="en-IN" sz="1400" dirty="0">
                <a:latin typeface="Georgia" panose="02040502050405020303" pitchFamily="18" charset="0"/>
              </a:rPr>
              <a:t>Kiran Bhan Singh</a:t>
            </a:r>
          </a:p>
          <a:p>
            <a:pPr algn="ctr">
              <a:spcAft>
                <a:spcPts val="1000"/>
              </a:spcAft>
              <a:defRPr sz="2000"/>
            </a:pPr>
            <a:r>
              <a:rPr lang="en-IN" sz="1400" dirty="0">
                <a:latin typeface="Georgia" panose="02040502050405020303" pitchFamily="18" charset="0"/>
              </a:rPr>
              <a:t>Mohammad </a:t>
            </a:r>
            <a:r>
              <a:rPr lang="en-IN" sz="1400" dirty="0" err="1">
                <a:latin typeface="Georgia" panose="02040502050405020303" pitchFamily="18" charset="0"/>
              </a:rPr>
              <a:t>Shujath</a:t>
            </a:r>
            <a:r>
              <a:rPr lang="en-IN" sz="1400" dirty="0">
                <a:latin typeface="Georgia" panose="02040502050405020303" pitchFamily="18" charset="0"/>
              </a:rPr>
              <a:t> </a:t>
            </a:r>
          </a:p>
          <a:p>
            <a:pPr algn="ctr">
              <a:spcAft>
                <a:spcPts val="1000"/>
              </a:spcAft>
              <a:defRPr sz="2000"/>
            </a:pPr>
            <a:r>
              <a:rPr lang="en-IN" sz="1400" dirty="0" err="1">
                <a:latin typeface="Georgia" panose="02040502050405020303" pitchFamily="18" charset="0"/>
              </a:rPr>
              <a:t>Perecharla</a:t>
            </a:r>
            <a:r>
              <a:rPr lang="en-IN" sz="1400" dirty="0">
                <a:latin typeface="Georgia" panose="02040502050405020303" pitchFamily="18" charset="0"/>
              </a:rPr>
              <a:t> Prasad </a:t>
            </a:r>
          </a:p>
          <a:p>
            <a:pPr algn="ctr">
              <a:spcAft>
                <a:spcPts val="1000"/>
              </a:spcAft>
              <a:defRPr sz="2000"/>
            </a:pPr>
            <a:r>
              <a:rPr lang="en-IN" sz="1400" dirty="0">
                <a:latin typeface="Georgia" panose="02040502050405020303" pitchFamily="18" charset="0"/>
              </a:rPr>
              <a:t>PV Raj Kamal</a:t>
            </a:r>
          </a:p>
          <a:p>
            <a:pPr>
              <a:spcAft>
                <a:spcPts val="1000"/>
              </a:spcAft>
              <a:defRPr sz="2000"/>
            </a:pPr>
            <a:endParaRPr dirty="0">
              <a:latin typeface="Georgia" panose="02040502050405020303" pitchFamily="18" charset="0"/>
            </a:endParaRPr>
          </a:p>
          <a:p>
            <a:pPr algn="ctr">
              <a:spcAft>
                <a:spcPts val="1000"/>
              </a:spcAft>
              <a:defRPr sz="2000"/>
            </a:pPr>
            <a:r>
              <a:rPr b="1" dirty="0">
                <a:latin typeface="Georgia" panose="02040502050405020303" pitchFamily="18" charset="0"/>
              </a:rPr>
              <a:t>Mentor</a:t>
            </a:r>
            <a:endParaRPr lang="en-IN" b="1" dirty="0">
              <a:latin typeface="Georgia" panose="02040502050405020303" pitchFamily="18" charset="0"/>
            </a:endParaRPr>
          </a:p>
          <a:p>
            <a:pPr algn="ctr">
              <a:spcAft>
                <a:spcPts val="1000"/>
              </a:spcAft>
              <a:defRPr sz="2000"/>
            </a:pPr>
            <a:r>
              <a:rPr lang="en-IN" sz="1400" dirty="0">
                <a:latin typeface="Georgia" panose="02040502050405020303" pitchFamily="18" charset="0"/>
              </a:rPr>
              <a:t>Sajid Ansari</a:t>
            </a:r>
            <a:endParaRPr sz="1400" dirty="0"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A90ED-2C4E-B7B3-E63D-A72DF5A0295F}"/>
              </a:ext>
            </a:extLst>
          </p:cNvPr>
          <p:cNvSpPr txBox="1"/>
          <p:nvPr/>
        </p:nvSpPr>
        <p:spPr>
          <a:xfrm>
            <a:off x="822960" y="4846320"/>
            <a:ext cx="1127071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>
                <a:latin typeface="Georgia" panose="02040502050405020303" pitchFamily="18" charset="0"/>
              </a:rPr>
              <a:t>Goal: Identify students at risk of withdrawal early enough to support meaningful intervention.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C83335-AABF-0D57-2EC1-FDEFBEFF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37CCC-11B4-C731-D6AC-199D87925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39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5972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Georgia" panose="02040502050405020303" pitchFamily="18" charset="0"/>
              </a:rPr>
              <a:t>The Problem: Why Early Dropout Prediction?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92708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Georgia" panose="02040502050405020303" pitchFamily="18" charset="0"/>
              </a:rPr>
              <a:t>Student withdrawal can often be identified only after the course has progressed significantly.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Georgia" panose="02040502050405020303" pitchFamily="18" charset="0"/>
              </a:rPr>
              <a:t>An early-warning system should predict risk while there is still time to intervene.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Georgia" panose="02040502050405020303" pitchFamily="18" charset="0"/>
              </a:rPr>
              <a:t>The challenge is to use only information genuinely available at the prediction point.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/>
            </a:pPr>
            <a:r>
              <a:rPr dirty="0">
                <a:latin typeface="Georgia" panose="02040502050405020303" pitchFamily="18" charset="0"/>
              </a:rPr>
              <a:t>We therefore predict withdrawal using data available by the 25% course checkpoint.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38912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rPr dirty="0"/>
              <a:t>Course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6976" y="46451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438912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25% Checkpoint</a:t>
            </a:r>
          </a:p>
          <a:p>
            <a:r>
              <a:t>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98464" y="46451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438912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Support /</a:t>
            </a:r>
          </a:p>
          <a:p>
            <a:r>
              <a:t>Intervention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9952" y="46451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24544" y="438912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Course End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1A9263F-E493-4B24-BA53-D659FB323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EE621AD-9651-A634-DBC0-192E7882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FFE7F-A5D0-E353-3890-079ECEA95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AC6853-2A36-E640-D028-568BB43A36FA}"/>
              </a:ext>
            </a:extLst>
          </p:cNvPr>
          <p:cNvSpPr txBox="1"/>
          <p:nvPr/>
        </p:nvSpPr>
        <p:spPr>
          <a:xfrm>
            <a:off x="594360" y="320040"/>
            <a:ext cx="58753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dirty="0"/>
              <a:t>Why Early Prediction Matters?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675D3-A98F-99F9-F315-5D54402A7B54}"/>
              </a:ext>
            </a:extLst>
          </p:cNvPr>
          <p:cNvSpPr txBox="1"/>
          <p:nvPr/>
        </p:nvSpPr>
        <p:spPr>
          <a:xfrm>
            <a:off x="685800" y="1325880"/>
            <a:ext cx="109270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Without Early Prediction</a:t>
            </a:r>
            <a:endParaRPr lang="en-IN" dirty="0"/>
          </a:p>
          <a:p>
            <a:r>
              <a:rPr lang="en-IN" dirty="0"/>
              <a:t>Student struggles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Engagement decreases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Performance declines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Student withdraws</a:t>
            </a:r>
          </a:p>
          <a:p>
            <a:r>
              <a:rPr lang="en-IN" b="1" dirty="0"/>
              <a:t>With Early Prediction</a:t>
            </a:r>
            <a:endParaRPr lang="en-IN" dirty="0"/>
          </a:p>
          <a:p>
            <a:r>
              <a:rPr lang="en-IN" dirty="0"/>
              <a:t>Student behaviour data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25% checkpoint prediction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Risk identified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Support / intervention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F76AD1C-065E-B465-FF1E-CCCF8A74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F8F8F29-3E7C-8467-E7D7-D2B7B643E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49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267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Build a reproducible student-course modeling dataset from OULAD.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Engineer leakage-safe features available at the 25% checkpoint.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Compare multiple machine learning approaches.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Address class imbalance and evaluate relevant performance trade-offs.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Assess subgroup behavior beyond overall accuracy.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Operationalize the trained models through an interactive dashboard.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A1029-0494-A8D7-590B-54B81A824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5151A-1144-17FD-B5C7-1F10A760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and Modeling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Student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84678" y="19019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49270" y="164592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3868" y="19019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58460" y="164592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Assessments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3059" y="19019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7651" y="164592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VLE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12249" y="19019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76841" y="164592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Student-Course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OULAD relational dataset combining student profile, registration, assessment, course and VLE activity.</a:t>
            </a:r>
          </a:p>
          <a:p>
            <a:pPr>
              <a:spcAft>
                <a:spcPts val="1000"/>
              </a:spcAft>
              <a:defRPr sz="1900"/>
            </a:pPr>
            <a:r>
              <a:t>Final modeling dataset: 32,593 student-course enrollments.</a:t>
            </a:r>
          </a:p>
          <a:p>
            <a:pPr>
              <a:spcAft>
                <a:spcPts val="1000"/>
              </a:spcAft>
              <a:defRPr sz="1900"/>
            </a:pPr>
            <a:r>
              <a:t>Target: Withdrawn = 1; Pass / Fail / Distinction = 0.</a:t>
            </a:r>
          </a:p>
          <a:p>
            <a:pPr>
              <a:spcAft>
                <a:spcPts val="1000"/>
              </a:spcAft>
              <a:defRPr sz="1900"/>
            </a:pPr>
            <a:r>
              <a:t>54 raw leakage-safe predictors → 93 encoded/scaled model inputs.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9BA6C4EF-B43D-5357-2980-330F8F5B2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695718E-7328-592A-37D6-F079AEA9A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Methodological Principle: Leakage-Safe Prediction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Course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6976" y="19019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64592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Only data up to</a:t>
            </a:r>
          </a:p>
          <a:p>
            <a:r>
              <a:t>25%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8464" y="19019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6" y="164592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Risk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9952" y="19019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24544" y="164592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Course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Allowed: early VLE engagement, active days, inactivity/recency, assessments already due, early scores and registration context.</a:t>
            </a:r>
          </a:p>
          <a:p>
            <a:pPr>
              <a:spcAft>
                <a:spcPts val="1000"/>
              </a:spcAft>
              <a:defRPr sz="1900"/>
            </a:pPr>
            <a:r>
              <a:t>Excluded: final outcome information, date of unregistration, and activity occurring after the checkpoint.</a:t>
            </a:r>
          </a:p>
          <a:p>
            <a:pPr>
              <a:spcAft>
                <a:spcPts val="1000"/>
              </a:spcAft>
              <a:defRPr sz="1900"/>
            </a:pPr>
            <a:r>
              <a:t>This makes the evaluation closer to a realistic early-warning scenario.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4144396-C5CD-191B-C7EE-881FCE34B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574B8C3-72B1-3D31-14C3-FDD09BA93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Feature Engineering: From Raw Records to Early-Warning Signals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0876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Raw OULAD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84678" y="176479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49270" y="150876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25% Checkpoint</a:t>
            </a:r>
          </a:p>
          <a:p>
            <a:r>
              <a:t>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3868" y="176479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58460" y="150876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Feature</a:t>
            </a:r>
          </a:p>
          <a:p>
            <a:r>
              <a:t>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3059" y="176479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7651" y="150876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54 Safe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12249" y="176479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76841" y="150876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93 Model 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46120"/>
            <a:ext cx="205740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Student Profile</a:t>
            </a:r>
          </a:p>
          <a:p>
            <a:pPr algn="ctr">
              <a:defRPr sz="1200"/>
            </a:pPr>
            <a:r>
              <a:t>Age, education,</a:t>
            </a:r>
            <a:br/>
            <a:r>
              <a:t>previous attempts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3246120"/>
            <a:ext cx="205740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Registration</a:t>
            </a:r>
          </a:p>
          <a:p>
            <a:pPr algn="ctr">
              <a:defRPr sz="1200"/>
            </a:pPr>
            <a:r>
              <a:t>Registration timing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79" y="3246120"/>
            <a:ext cx="205740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Course Context</a:t>
            </a:r>
          </a:p>
          <a:p>
            <a:pPr algn="ctr">
              <a:defRPr sz="1200"/>
            </a:pPr>
            <a:r>
              <a:t>Module, duration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3246120"/>
            <a:ext cx="205740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VLE Engagement</a:t>
            </a:r>
          </a:p>
          <a:p>
            <a:pPr algn="ctr">
              <a:defRPr sz="1200"/>
            </a:pPr>
            <a:r>
              <a:t>Clicks, active days,</a:t>
            </a:r>
            <a:br/>
            <a:r>
              <a:t>recency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19" y="3246120"/>
            <a:ext cx="205740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Assessment Behavior</a:t>
            </a:r>
          </a:p>
          <a:p>
            <a:pPr algn="ctr">
              <a:defRPr sz="1200"/>
            </a:pPr>
            <a:r>
              <a:t>Missing submissions,</a:t>
            </a:r>
            <a:br/>
            <a:r>
              <a:t>scores, delays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CE7D01B-1882-271F-AEAD-B3A104619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C96393B-BA47-8A5B-F25D-52AF26FC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Evaluation Design: Student-Grouped Split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9164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All Enrollments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84678" y="194767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49270" y="169164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Group by Student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3868" y="194767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58460" y="169164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Training</a:t>
            </a:r>
          </a:p>
          <a:p>
            <a:r>
              <a:t>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3059" y="194767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7651" y="169164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Evaluation</a:t>
            </a:r>
          </a:p>
          <a:p>
            <a:r>
              <a:t>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12249" y="194767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76841" y="169164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Test</a:t>
            </a:r>
          </a:p>
          <a:p>
            <a:r>
              <a:t>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Every enrollment belonging to the same student is kept in one partition.</a:t>
            </a:r>
          </a:p>
          <a:p>
            <a:pPr>
              <a:spcAft>
                <a:spcPts val="1000"/>
              </a:spcAft>
              <a:defRPr sz="1900"/>
            </a:pPr>
            <a:r>
              <a:t>This prevents the same student's information from appearing in both training and testing.</a:t>
            </a:r>
          </a:p>
          <a:p>
            <a:pPr>
              <a:spcAft>
                <a:spcPts val="1000"/>
              </a:spcAft>
              <a:defRPr sz="1900"/>
            </a:pPr>
            <a:r>
              <a:t>Training: model fitting | Evaluation: model selection | Test: final held-out comparison.</a:t>
            </a:r>
          </a:p>
          <a:p>
            <a:pPr>
              <a:spcAft>
                <a:spcPts val="1000"/>
              </a:spcAft>
              <a:defRPr sz="1900"/>
            </a:pPr>
            <a:r>
              <a:t>Final results are reported on the common grouped test partition.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BC2C9F9-2117-8CCE-B065-D29D90E49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3645094-7244-2FCC-3CCD-311498C58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Development and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Baseline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84678" y="185623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49270" y="160020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Model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3868" y="185623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58460" y="160020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Imbalance</a:t>
            </a:r>
          </a:p>
          <a:p>
            <a:r>
              <a:t>Experiments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3059" y="185623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7651" y="160020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Weight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12249" y="185623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76841" y="1600200"/>
            <a:ext cx="2044598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Final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Compared Logistic Regression, tree-based models and a tabular neural network.</a:t>
            </a:r>
          </a:p>
          <a:p>
            <a:pPr>
              <a:spcAft>
                <a:spcPts val="1000"/>
              </a:spcAft>
              <a:defRPr sz="1900"/>
            </a:pPr>
            <a:r>
              <a:t>Explored class imbalance strategies and weight sensitivity.</a:t>
            </a:r>
          </a:p>
          <a:p>
            <a:pPr>
              <a:spcAft>
                <a:spcPts val="1000"/>
              </a:spcAft>
              <a:defRPr sz="1900"/>
            </a:pPr>
            <a:r>
              <a:t>Final selected model: HistGradientBoosting (HGB).</a:t>
            </a:r>
          </a:p>
          <a:p>
            <a:pPr>
              <a:spcAft>
                <a:spcPts val="1000"/>
              </a:spcAft>
              <a:defRPr sz="1900"/>
            </a:pPr>
            <a:r>
              <a:t>Selected imbalance approach: sample weighting with withdrawal weight = 3.0.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14A61AF-7088-4F0E-C2F4-8919713E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FE0A05C-D05A-0EE8-1791-95BB56FF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Model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2514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Accuracy</a:t>
            </a:r>
          </a:p>
          <a:p>
            <a:pPr algn="ctr">
              <a:defRPr sz="2400" b="1"/>
            </a:pPr>
            <a:r>
              <a:t>0.816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417320"/>
            <a:ext cx="2514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Balanced Accuracy</a:t>
            </a:r>
          </a:p>
          <a:p>
            <a:pPr algn="ctr">
              <a:defRPr sz="2400" b="1"/>
            </a:pPr>
            <a:r>
              <a:t>0.804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2514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ROC-AUC</a:t>
            </a:r>
          </a:p>
          <a:p>
            <a:pPr algn="ctr">
              <a:defRPr sz="2400" b="1"/>
            </a:pPr>
            <a:r>
              <a:t>0.874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39" y="1417320"/>
            <a:ext cx="2514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PR-AUC</a:t>
            </a:r>
          </a:p>
          <a:p>
            <a:pPr algn="ctr">
              <a:defRPr sz="2400" b="1"/>
            </a:pPr>
            <a:r>
              <a:t>0.797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514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Withdrawal Precision</a:t>
            </a:r>
          </a:p>
          <a:p>
            <a:pPr algn="ctr">
              <a:defRPr sz="2400" b="1"/>
            </a:pPr>
            <a:r>
              <a:t>0.667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834640"/>
            <a:ext cx="2514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Withdrawal Recall</a:t>
            </a:r>
          </a:p>
          <a:p>
            <a:pPr algn="ctr">
              <a:defRPr sz="2400" b="1"/>
            </a:pPr>
            <a:r>
              <a:t>0.775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834640"/>
            <a:ext cx="2514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Withdrawal F1</a:t>
            </a:r>
          </a:p>
          <a:p>
            <a:pPr algn="ctr">
              <a:defRPr sz="2400" b="1"/>
            </a:pPr>
            <a:r>
              <a:t>0.717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09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Key takeaway: The selected HGB model identified approximately 77.5% of actual withdrawals on the final grouped test 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Student Dropout Risk Prediction | Final Evaluation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D8D0EE1-CA32-443A-32DE-C607FB7AA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D822005-F49F-685F-CF42-9D79F9FF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012595-46EF-F202-1DAC-8A62DF06DE7C}"/>
              </a:ext>
            </a:extLst>
          </p:cNvPr>
          <p:cNvSpPr txBox="1"/>
          <p:nvPr/>
        </p:nvSpPr>
        <p:spPr>
          <a:xfrm>
            <a:off x="1101213" y="737419"/>
            <a:ext cx="8209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Performance Target vs Achievement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AC9F8-B9D6-4E7B-CE4F-634C1235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AED60-25A8-86D0-2A57-02A1E825B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59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Drives Early Dropout Risk?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9164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Missing Early</a:t>
            </a:r>
          </a:p>
          <a:p>
            <a:r>
              <a:t>Assessments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6976" y="194767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69164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Low VLE</a:t>
            </a:r>
          </a:p>
          <a:p>
            <a:r>
              <a:t>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8464" y="194767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6" y="169164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Long Inactivity /</a:t>
            </a:r>
          </a:p>
          <a:p>
            <a:r>
              <a:t>Recency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9952" y="194767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24544" y="1691640"/>
            <a:ext cx="2596896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Weak Early Academic</a:t>
            </a:r>
          </a:p>
          <a:p>
            <a:r>
              <a:t>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The strongest recurring predictive signals came from early assessment behavior and learning engagement.</a:t>
            </a:r>
          </a:p>
          <a:p>
            <a:pPr>
              <a:spcAft>
                <a:spcPts val="1000"/>
              </a:spcAft>
              <a:defRPr sz="1900"/>
            </a:pPr>
            <a:r>
              <a:t>These features indicate predictive association—not causation.</a:t>
            </a:r>
          </a:p>
          <a:p>
            <a:pPr>
              <a:spcAft>
                <a:spcPts val="1000"/>
              </a:spcAft>
              <a:defRPr sz="1900"/>
            </a:pPr>
            <a:r>
              <a:t>The results can support targeted attention, but they do not prove that changing one feature alone will change an outcome.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Student Dropout Risk Prediction | Final Evaluation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F4BA50E-6475-5304-8FD2-36CE2787C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010555F-6102-FE0C-0FA2-BD294BFB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4902" y="320040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/>
              <a:t>Beyond Accuracy: Model Comparison and Responsible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Compared multiple model families instead of relying on a single algorithm.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Conducted subgroup-oriented evaluation to understand performance trade-offs.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The three-seed MLP was competitive but did not clearly outperform the selected HGB model.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Model choice considered predictive performance together with practical trade-offs.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Student Dropout Risk Prediction | Final Evaluation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2896F-394C-699B-3098-3C1BA4546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679D1-F709-3DEF-E916-8D317478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Interactive Three-Model Inference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676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Selected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16480" y="16733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81071" y="1417320"/>
            <a:ext cx="1676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54 Raw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57471" y="16733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064" y="1417320"/>
            <a:ext cx="1676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Saved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8464" y="16733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1417320"/>
            <a:ext cx="1676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93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9455" y="16733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4047" y="1417320"/>
            <a:ext cx="1676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LR / HGB / MLP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80448" y="1673352"/>
            <a:ext cx="1645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45040" y="1417320"/>
            <a:ext cx="16764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Risk +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71800"/>
            <a:ext cx="1042416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Compare Logistic Regression, </a:t>
            </a:r>
            <a:r>
              <a:rPr dirty="0" err="1"/>
              <a:t>HistGradientBoosting</a:t>
            </a:r>
            <a:r>
              <a:rPr dirty="0"/>
              <a:t> and the three-seed neural network side by side.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Run individual models or all models together.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Adjust the case-level decision threshold.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Perform what-if editing of selected engagement or assessment inputs.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Explore performance, prediction differences and curated example cases.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Student Dropout Risk Prediction | Final Evaluation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FA651E8-A6DC-4A42-E57C-37F18AEC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C3053D2-738D-BC9F-C455-5C05922BD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Live Dashboard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1. Select a curated student case.</a:t>
            </a:r>
          </a:p>
          <a:p>
            <a:pPr>
              <a:spcAft>
                <a:spcPts val="1000"/>
              </a:spcAft>
              <a:defRPr sz="1900"/>
            </a:pPr>
            <a:r>
              <a:t>2. Run all three models and compare withdrawal probabilities.</a:t>
            </a:r>
          </a:p>
          <a:p>
            <a:pPr>
              <a:spcAft>
                <a:spcPts val="1000"/>
              </a:spcAft>
              <a:defRPr sz="1900"/>
            </a:pPr>
            <a:r>
              <a:t>3. Demonstrate the case: “HGB catches a withdrawal others miss.”</a:t>
            </a:r>
          </a:p>
          <a:p>
            <a:pPr>
              <a:spcAft>
                <a:spcPts val="1000"/>
              </a:spcAft>
              <a:defRPr sz="1900"/>
            </a:pPr>
            <a:r>
              <a:t>   Logistic Regression ≈ 11% | HGB ≈ 75% | Neural Network ≈ 23%</a:t>
            </a:r>
          </a:p>
          <a:p>
            <a:pPr>
              <a:spcAft>
                <a:spcPts val="1000"/>
              </a:spcAft>
              <a:defRPr sz="1900"/>
            </a:pPr>
            <a:r>
              <a:t>4. Change the decision threshold and observe the classification change.</a:t>
            </a:r>
          </a:p>
          <a:p>
            <a:pPr>
              <a:spcAft>
                <a:spcPts val="1000"/>
              </a:spcAft>
              <a:defRPr sz="1900"/>
            </a:pPr>
            <a:r>
              <a:t>5. Use what-if editing and rerun the models.</a:t>
            </a:r>
          </a:p>
          <a:p>
            <a:pPr>
              <a:spcAft>
                <a:spcPts val="1000"/>
              </a:spcAft>
              <a:defRPr sz="1900"/>
            </a:pPr>
            <a:r>
              <a:t>Important: the threshold slider changes the displayed case decision, not the published benchmark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Student Dropout Risk Prediction | Final Evaluation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9F06E-70FD-51DA-A01E-18F4C32B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EC40A-C351-9CB0-26FC-6C23BC6B9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Early dropout prediction is feasible at the 25% course checkpoint.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Strict leakage control is essential for credible early-warning modeling.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Student-grouped evaluation reduces the risk of learner overlap across partitions.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Early assessment behavior and engagement provide valuable predictive signals.</a:t>
            </a:r>
          </a:p>
          <a:p>
            <a:pPr>
              <a:spcAft>
                <a:spcPts val="1000"/>
              </a:spcAft>
              <a:defRPr sz="2000"/>
            </a:pPr>
            <a:r>
              <a:rPr dirty="0" err="1"/>
              <a:t>HistGradientBoosting</a:t>
            </a:r>
            <a:r>
              <a:rPr dirty="0"/>
              <a:t> delivered the strongest final benchmark among the selected approaches.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The dashboard translates the model artifacts into an interactive comparison and what-if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39" y="5532120"/>
            <a:ext cx="109728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dirty="0"/>
              <a:t>Key contribution: a realistic, leakage-safe early-warning system built around information available when intervention is still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Student Dropout Risk Prediction | Final Evaluation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09CBE6-50BF-3299-FB8C-AB7D57637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CA9A33-76C6-B862-4F92-7B144AE79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1A06A8-8514-6B8F-0C51-2A3148727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Student Dropout Risk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71714-F2C8-8B0D-16D0-3302E069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8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1371</TotalTime>
  <Words>1156</Words>
  <Application>Microsoft Office PowerPoint</Application>
  <PresentationFormat>Widescreen</PresentationFormat>
  <Paragraphs>244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jay yadav</dc:creator>
  <cp:keywords/>
  <dc:description>generated using python-pptx</dc:description>
  <cp:lastModifiedBy>jay yadav</cp:lastModifiedBy>
  <cp:revision>7</cp:revision>
  <dcterms:created xsi:type="dcterms:W3CDTF">2013-01-27T09:14:16Z</dcterms:created>
  <dcterms:modified xsi:type="dcterms:W3CDTF">2026-08-24T03:34:41Z</dcterms:modified>
  <cp:category/>
</cp:coreProperties>
</file>